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students, to CIS-4328: Information Security at Texas Wesleyan University. I am Professor William Nash. In this course, we examine cybersecurity not merely as a set of technical tools, but as an adversarial discipline, a rigorous engineering practice, and an organizational risk management imperative. Our objective is to understand both how modern adversaries compromise systems and how security architects design resilient, defense-in-depth infrastructures capable of surviving sophisticated attacks. Let's begin with our foundational security models.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1, we establish our core security philosophy. Everything we do in cybersecurity revolves around the CIA Triad: Confidentiality, Integrity, and Availability. Confidentiality ensures that only authorized entities can view data, enforced through encryption and access control. Integrity ensures data cannot be modified in transit or at rest without detection, enforced through cryptographic hashes and digital signatures. Availability guarantees that systems remain responsive to legitimate users, enforced through fault tolerance, redundancy, and DDoS mitigation. Look at the diagram on the right illustrating Defense-in-Depth. In the past, organizations relied on a castle-and-moat perimeter model: a strong firewall at the edge, but wide-open trust inside. Today, that model is entirely obsolete. A modern security architecture implements concentric rings: perimeter filtering, internal zero-trust microsegmentation, host-based endpoint protection, strict multi-factor authentication, and ubiquitous data encryption.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2 focuses on threat modeling and adversarial methodologies. To defend a network, you must understand your adversary. We categorize threat actors along a spectrum of capability and motive—from unsophisticated script kiddies to well-funded nation-state Advanced Persistent Threats. To structure our defense, we utilize industry standard frameworks. Lockheed Martin's Cyber Kill Chain presents the linear steps of an intrusion. However, the modern gold standard for SOC analysts and incident responders is the MITRE ATT&amp;CK framework, shown on the right. ATT&amp;CK organizes adversary behavior into Tactics—such as Initial Access, Persistence, and Lateral Movement—and breaks each down into specific, observable Techniques. When analyzing an intrusion, mapping logs to ATT&amp;CK techniques enables defenders to anticipate the adversary's next move and deploy targeted countermeasures.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3, we dive into application-layer security, focusing on SQL Injection—consistently ranked among the top web threats by OWASP. SQL injection occurs because of a fundamental architectural failure: concatenating unsanitized user input directly into dynamic database strings. Observe the diagram on the right. In the vulnerable model, an attacker submits an apostrophe followed by OR '1'='1'. The database SQL parser treats that input as executable syntax, turning the WHERE clause into a tautology that is always true, immediately granting administrative access without a valid password! Now look at the secure model below it. To eliminate SQL injection, we must implement Parameterized Queries, or Prepared Statements. The database engine precompiles the Abstract Syntax Tree of the SQL query with placeholders. When user input arrives, the engine treats it strictly as raw string literals—never as executable code. Even if an attacker enters SQL syntax, it is evaluated simply as harmless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4 examines the evolution of modern malware. The days when attackers dropped an obvious 'virus.exe' file onto a hard drive are largely gone. Modern threat actors use Living-off-the-Land techniques, weaponizing built-in operating system binaries—known as LOLBins. Look at the comparison diagram on the right. In a fileless attack, the adversary uses PowerShell or Certutil—legitimate tools signed by Microsoft—to download payloads directly into volatile memory (RAM). The malware executes inside the address space of a legitimate Windows process through techniques like process hollowing. Traditional antivirus software looks for malicious file signatures on disk; because nothing touches the disk, the antivirus reports clean! To defend against this, modern SOCs deploy behavioral Endpoint Detection and Response (EDR) solutions that monitor process creation trees, parent-child relationships, command-line arguments, and enforce strict PowerShell Script Block Logging.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5, we explore applied cryptography, the mathematical foundation of digital security. We categorize cryptographic primitives into symmetric and asymmetric algorithms. Symmetric encryption, like AES-256, uses one shared key; it is exceptionally fast and ideal for encrypting large databases and hard drives. However, how do two parties who have never met safely share that key across the Internet? That is where asymmetric cryptography comes in. Using mathematical one-way functions like elliptic curves or prime factorization, asymmetric systems allow public key sharing. In TLS 1.3, we use hybrid cryptography: ephemeral elliptic curve Diffie-Hellman negotiates a session key, and AES-GCM handles the high-speed data stream. On the right column, notice cryptographic hashes. A hash is a one-way mathematical fingerprint. For password storage, never use fast algorithms like SHA-256; always use salted, memory-hard algorithms like Argon2id or bcrypt to defend against GPU-accelerated cracking.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6 addresses Public Key Infrastructure, or PKI. When you connect to your bank's website, your browser displays a padlock. How does it know it's really the bank? Look at the diagram on the right illustrating the PKI Chain of Trust. At the top is the Root CA, whose self-signed certificate is pre-installed in your browser's trust store. To safeguard that root, the Root CA delegates authority to an Intermediate CA. The Intermediate CA then signs the end-entity certificate for the web server. When your browser connects, it receives the server's certificate. It mathematically verifies the signature using the Intermediate CA's public key, and verifies the Intermediate's signature using the Root CA's public key. If every signature in the chain is mathematically valid, not expired, and not listed on an OCSP revocation list, the connection is trusted. PKI is the bedrock of secure communications across the global economy.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7 explores network security architectures and the paradigm shift toward Zero Trust. Historically, corporate networks were designed like castles: high walls on the outside, but once someone was on the internal Wi-Fi or VPN, they had access to everything. Adversaries exploited this by compromising a single low-level workstation and moving laterally across the entire organization. Under NIST SP 800-207 Zero Trust Architecture, shown on the right, network location implies zero trust. Whether a request originates from an office cubicle in Fort Worth or a coffee shop in Tokyo, it must pass through a Policy Enforcement Point. The system evaluates: Who is the user? Is their multi-factor authentication valid? Is their laptop fully patched? Does their behavior match normal patterns? Only then is access granted to that specific application. This is the gold standard of modern enterprise defense.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8, we examine Identity and Access Management. Identity is the new security perimeter. Passwords alone are no longer acceptable protection. We require Multi-Factor Authentication. However, not all MFA is created equal. Attackers routinely bypass SMS codes through SIM-swapping, and bypass mobile app push notifications through prompt fatigue attacks—bombarding an employee with notifications at 3:00 AM until they click approve. To achieve true resistance, enterprise security mandates FIDO2 WebAuthn hardware security keys, which cryptographically bind the login challenge to the browser's exact domain URL. On the right, we also examine enterprise federation protocols: SAML and OpenID Connect allow single sign-on across thousands of cloud applications, while OAuth 2.0 issues cryptographically signed JSON Web Tokens for delegated API access.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9 covers Incident Response and Digital Forensics. In cybersecurity, the saying goes: 'It's not if you will be breached, but when.' When an incident occurs, the response team follows the NIST SP 800-61 lifecycle: Preparation, Detection and Analysis, Containment and Eradication, and Post-Incident Review. In containment, hasty actions like pulling the power plug can destroy critical volatile evidence. As digital investigators, we follow RFC 3227's Order of Volatility: capture volatile RAM first, because RAM contains active network connections, in-memory malware payloads, and plaintext encryption keys. Every forensic image must be cryptographically hashed with SHA-256 to establish a legally defensible Chain of Custody. Rigorous methodology separates professional incident response from chaotic disaster.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10, we address Security Governance, Risk Management, and Compliance—the strategic domain that connects technical controls to executive leadership. Security professionals must communicate risk in the language of business: financial impact. Using quantitative risk modeling, we calculate Single Loss Expectancy and Annualized Loss Expectancy. If a control costs fifty thousand dollars a year but only prevents a ten-thousand-dollar annual loss, it is economically unjustified! We also evaluate comprehensive frameworks like the newly updated NIST Cybersecurity Framework 2.0, which added the foundational 'Govern' function, and mandatory regulatory standards like PCI-DSS and HIPAA. True security requires aligning technical defenses with legal obligations and enterprise risk tolerance.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CIS-4328: congratulations on navigating one of the most rigorous and vital courses in our curriculum. You now possess the foundational knowledge that security engineers, SOC analysts, and cybersecurity consultants use daily. The domains we covered align directly with industry benchmarks, including the CompTIA Security+ and the gold-standard CISSP credential. As you prepare for your final capstone evaluation, focus on explaining the architectural 'why' behind each control—why parameterized queries stop SQL injection, why EUI-64 flips the seventh bit, why Zero Trust evaluates context rather than IP addresses. Thank you for your dedication to defending our digital world. Best of luck on the final exam!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97680"/>
            <a:ext cx="12191695" cy="109728"/>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371600"/>
            <a:ext cx="10058400" cy="457200"/>
          </a:xfrm>
          <a:prstGeom prst="rect">
            <a:avLst/>
          </a:prstGeom>
          <a:noFill/>
        </p:spPr>
        <p:txBody>
          <a:bodyPr wrap="none">
            <a:spAutoFit/>
          </a:bodyPr>
          <a:lstStyle/>
          <a:p>
            <a:pPr>
              <a:defRPr sz="1300" b="1">
                <a:solidFill>
                  <a:srgbClr val="D9A74A"/>
                </a:solidFill>
              </a:defRPr>
            </a:pPr>
            <a:r>
              <a:t>TEXAS WESLEYAN UNIVERSITY · SCHOOL OF BUSINESS ADMINISTRATION</a:t>
            </a:r>
          </a:p>
        </p:txBody>
      </p:sp>
      <p:sp>
        <p:nvSpPr>
          <p:cNvPr id="5" name="TextBox 4"/>
          <p:cNvSpPr txBox="1"/>
          <p:nvPr/>
        </p:nvSpPr>
        <p:spPr>
          <a:xfrm>
            <a:off x="1097280" y="1828800"/>
            <a:ext cx="10058400" cy="1371600"/>
          </a:xfrm>
          <a:prstGeom prst="rect">
            <a:avLst/>
          </a:prstGeom>
          <a:noFill/>
        </p:spPr>
        <p:txBody>
          <a:bodyPr wrap="square">
            <a:spAutoFit/>
          </a:bodyPr>
          <a:lstStyle/>
          <a:p>
            <a:pPr>
              <a:defRPr sz="3600" b="1">
                <a:solidFill>
                  <a:srgbClr val="FFFFFF"/>
                </a:solidFill>
              </a:defRPr>
            </a:pPr>
            <a:r>
              <a:t>CIS-4328: Information Security</a:t>
            </a:r>
          </a:p>
        </p:txBody>
      </p:sp>
      <p:sp>
        <p:nvSpPr>
          <p:cNvPr id="6" name="TextBox 5"/>
          <p:cNvSpPr txBox="1"/>
          <p:nvPr/>
        </p:nvSpPr>
        <p:spPr>
          <a:xfrm>
            <a:off x="1097280" y="3291840"/>
            <a:ext cx="10058400" cy="822960"/>
          </a:xfrm>
          <a:prstGeom prst="rect">
            <a:avLst/>
          </a:prstGeom>
          <a:noFill/>
        </p:spPr>
        <p:txBody>
          <a:bodyPr wrap="square">
            <a:spAutoFit/>
          </a:bodyPr>
          <a:lstStyle/>
          <a:p>
            <a:pPr>
              <a:defRPr sz="1800">
                <a:solidFill>
                  <a:srgbClr val="E2E8F0"/>
                </a:solidFill>
              </a:defRPr>
            </a:pPr>
            <a:r>
              <a:t>Threat Modeling, Applied Cryptography, Defense-in-Depth, and Enterprise Incident Response</a:t>
            </a:r>
          </a:p>
        </p:txBody>
      </p:sp>
      <p:sp>
        <p:nvSpPr>
          <p:cNvPr id="7" name="TextBox 6"/>
          <p:cNvSpPr txBox="1"/>
          <p:nvPr/>
        </p:nvSpPr>
        <p:spPr>
          <a:xfrm>
            <a:off x="1097280" y="4663440"/>
            <a:ext cx="10058400" cy="1371600"/>
          </a:xfrm>
          <a:prstGeom prst="rect">
            <a:avLst/>
          </a:prstGeom>
          <a:noFill/>
        </p:spPr>
        <p:txBody>
          <a:bodyPr wrap="none">
            <a:spAutoFit/>
          </a:bodyPr>
          <a:lstStyle/>
          <a:p>
            <a:pPr>
              <a:defRPr sz="1500" b="1">
                <a:solidFill>
                  <a:srgbClr val="FFFFFF"/>
                </a:solidFill>
              </a:defRPr>
            </a:pPr>
            <a:r>
              <a:t>Instructor: Professor William Nash, Ph.D.</a:t>
            </a:r>
          </a:p>
          <a:p>
            <a:pPr>
              <a:defRPr sz="1200">
                <a:solidFill>
                  <a:srgbClr val="CBD5E1"/>
                </a:solidFill>
              </a:defRPr>
            </a:pPr>
            <a:r>
              <a:t>Department of Computer Science &amp; Information Technology | Fall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CIS-4328 · MODULE 01: FOUNDATIONS</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Security Fundamentals: CIA Triad &amp; Defense-in-Depth</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CIS-4328 | Professor William Nash, Ph.D.</a:t>
            </a:r>
          </a:p>
        </p:txBody>
      </p:sp>
      <p:sp>
        <p:nvSpPr>
          <p:cNvPr id="8" name="Rounded Rectangle 7"/>
          <p:cNvSpPr/>
          <p:nvPr/>
        </p:nvSpPr>
        <p:spPr>
          <a:xfrm>
            <a:off x="731520" y="1280160"/>
            <a:ext cx="5303520" cy="50292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000"/>
              </a:spcAft>
            </a:pPr>
            <a:r>
              <a:rPr b="1" sz="1250">
                <a:solidFill>
                  <a:srgbClr val="1B365D"/>
                </a:solidFill>
              </a:rPr>
              <a:t>• The CIA Triad: </a:t>
            </a:r>
            <a:r>
              <a:rPr sz="1150">
                <a:solidFill>
                  <a:srgbClr val="0F172A"/>
                </a:solidFill>
              </a:rPr>
              <a:t>Confidentiality (preventing unauthorized disclosure), Integrity (safeguarding data accuracy and non-repudiation), Availability (guaranteeing timely access).</a:t>
            </a:r>
          </a:p>
          <a:p>
            <a:pPr>
              <a:spcAft>
                <a:spcPts val="1000"/>
              </a:spcAft>
            </a:pPr>
            <a:r>
              <a:rPr b="1" sz="1250">
                <a:solidFill>
                  <a:srgbClr val="1B365D"/>
                </a:solidFill>
              </a:rPr>
              <a:t>• The Parkerian Hexad: </a:t>
            </a:r>
            <a:r>
              <a:rPr sz="1150">
                <a:solidFill>
                  <a:srgbClr val="0F172A"/>
                </a:solidFill>
              </a:rPr>
              <a:t>Expands CIA to include Authenticity (provenance validation), Utility (usefulness of data), and Possession/Control.</a:t>
            </a:r>
          </a:p>
          <a:p>
            <a:pPr>
              <a:spcAft>
                <a:spcPts val="1000"/>
              </a:spcAft>
            </a:pPr>
            <a:r>
              <a:rPr b="1" sz="1250">
                <a:solidFill>
                  <a:srgbClr val="1B365D"/>
                </a:solidFill>
              </a:rPr>
              <a:t>• Defense-in-Depth Strategy: </a:t>
            </a:r>
            <a:r>
              <a:rPr sz="1150">
                <a:solidFill>
                  <a:srgbClr val="0F172A"/>
                </a:solidFill>
              </a:rPr>
              <a:t>Layered defense paradigm: if any single perimeter barrier fails, subsequent interior controls prevent total system compromise.</a:t>
            </a:r>
          </a:p>
          <a:p>
            <a:pPr>
              <a:spcAft>
                <a:spcPts val="1000"/>
              </a:spcAft>
            </a:pPr>
            <a:r>
              <a:rPr b="1" sz="1250">
                <a:solidFill>
                  <a:srgbClr val="1B365D"/>
                </a:solidFill>
              </a:rPr>
              <a:t>• Multi-Tier Security Ring: </a:t>
            </a:r>
            <a:r>
              <a:rPr sz="1150">
                <a:solidFill>
                  <a:srgbClr val="0F172A"/>
                </a:solidFill>
              </a:rPr>
              <a:t>Perimeter Firewalls -&gt; Network Segmentation -&gt; Endpoint Detection &amp; Response (EDR) -&gt; Identity &amp; Access Management (IAM) -&gt; Data-at-Rest Encryption.</a:t>
            </a:r>
          </a:p>
          <a:p>
            <a:pPr>
              <a:spcAft>
                <a:spcPts val="1000"/>
              </a:spcAft>
            </a:pPr>
            <a:r>
              <a:rPr b="1" sz="1250">
                <a:solidFill>
                  <a:srgbClr val="1B365D"/>
                </a:solidFill>
              </a:rPr>
              <a:t>• Principle of Least Privilege: </a:t>
            </a:r>
            <a:r>
              <a:rPr sz="1150">
                <a:solidFill>
                  <a:srgbClr val="0F172A"/>
                </a:solidFill>
              </a:rPr>
              <a:t>Every identity, process, and system must operate using the minimal set of privileges necessary to execute its legitimate function.</a:t>
            </a:r>
          </a:p>
        </p:txBody>
      </p:sp>
      <p:pic>
        <p:nvPicPr>
          <p:cNvPr id="9" name="Picture 8" descr="cia_triad_defense_in_depth.png"/>
          <p:cNvPicPr>
            <a:picLocks noChangeAspect="1"/>
          </p:cNvPicPr>
          <p:nvPr/>
        </p:nvPicPr>
        <p:blipFill>
          <a:blip r:embed="rId2"/>
          <a:stretch>
            <a:fillRect/>
          </a:stretch>
        </p:blipFill>
        <p:spPr>
          <a:xfrm>
            <a:off x="6263640" y="1280160"/>
            <a:ext cx="5193792" cy="2811319"/>
          </a:xfrm>
          <a:prstGeom prst="rect">
            <a:avLst/>
          </a:prstGeom>
          <a:ln w="19050">
            <a:solidFill>
              <a:srgbClr val="D9A74A"/>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CIS-4328 · MODULE 02: THREAT LANDSCAPES</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Adversarial Modeling &amp; MITRE ATT&amp;CK</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CIS-4328 | Professor William Nash, Ph.D.</a:t>
            </a:r>
          </a:p>
        </p:txBody>
      </p:sp>
      <p:sp>
        <p:nvSpPr>
          <p:cNvPr id="8" name="Rounded Rectangle 7"/>
          <p:cNvSpPr/>
          <p:nvPr/>
        </p:nvSpPr>
        <p:spPr>
          <a:xfrm>
            <a:off x="73152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Threat Actor Taxonomies &amp; Motives</a:t>
            </a:r>
          </a:p>
          <a:p>
            <a:pPr>
              <a:spcAft>
                <a:spcPts val="800"/>
              </a:spcAft>
            </a:pPr>
            <a:r>
              <a:rPr b="1" sz="1200">
                <a:solidFill>
                  <a:srgbClr val="1B365D"/>
                </a:solidFill>
              </a:rPr>
              <a:t>• Nation-State APTs: </a:t>
            </a:r>
            <a:r>
              <a:rPr sz="1150">
                <a:solidFill>
                  <a:srgbClr val="0F172A"/>
                </a:solidFill>
              </a:rPr>
              <a:t>Advanced Persistent Threats with vast resources, custom zero-day exploits, and long-term espionage objectives.</a:t>
            </a:r>
          </a:p>
          <a:p>
            <a:pPr>
              <a:spcAft>
                <a:spcPts val="800"/>
              </a:spcAft>
            </a:pPr>
            <a:r>
              <a:rPr b="1" sz="1200">
                <a:solidFill>
                  <a:srgbClr val="1B365D"/>
                </a:solidFill>
              </a:rPr>
              <a:t>• Cybercrime Syndicates: </a:t>
            </a:r>
            <a:r>
              <a:rPr sz="1150">
                <a:solidFill>
                  <a:srgbClr val="0F172A"/>
                </a:solidFill>
              </a:rPr>
              <a:t>Financially motivated threat actors specializing in Ransomware-as-a-Service (RaaS), double extortion, and credential theft.</a:t>
            </a:r>
          </a:p>
          <a:p>
            <a:pPr>
              <a:spcAft>
                <a:spcPts val="800"/>
              </a:spcAft>
            </a:pPr>
            <a:r>
              <a:rPr b="1" sz="1200">
                <a:solidFill>
                  <a:srgbClr val="1B365D"/>
                </a:solidFill>
              </a:rPr>
              <a:t>• Insider Threats: </a:t>
            </a:r>
            <a:r>
              <a:rPr sz="1150">
                <a:solidFill>
                  <a:srgbClr val="0F172A"/>
                </a:solidFill>
              </a:rPr>
              <a:t>Malicious or negligent employees possessing legitimate credentials; the most challenging threat to detect with external perimeter controls.</a:t>
            </a:r>
          </a:p>
          <a:p>
            <a:pPr>
              <a:spcAft>
                <a:spcPts val="800"/>
              </a:spcAft>
            </a:pPr>
            <a:r>
              <a:rPr b="1" sz="1200">
                <a:solidFill>
                  <a:srgbClr val="1B365D"/>
                </a:solidFill>
              </a:rPr>
              <a:t>• Hacktivists &amp; Script Kiddies: </a:t>
            </a:r>
            <a:r>
              <a:rPr sz="1150">
                <a:solidFill>
                  <a:srgbClr val="0F172A"/>
                </a:solidFill>
              </a:rPr>
              <a:t>Politically driven disruptions or opportunistic actors using automated vulnerability scanners and public exploit scripts.</a:t>
            </a:r>
          </a:p>
        </p:txBody>
      </p:sp>
      <p:sp>
        <p:nvSpPr>
          <p:cNvPr id="9" name="Rounded Rectangle 8"/>
          <p:cNvSpPr/>
          <p:nvPr/>
        </p:nvSpPr>
        <p:spPr>
          <a:xfrm>
            <a:off x="626364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MITRE ATT&amp;CK &amp; Cyber Kill Chain</a:t>
            </a:r>
          </a:p>
          <a:p>
            <a:pPr>
              <a:spcAft>
                <a:spcPts val="800"/>
              </a:spcAft>
            </a:pPr>
            <a:r>
              <a:rPr b="1" sz="1200">
                <a:solidFill>
                  <a:srgbClr val="1B365D"/>
                </a:solidFill>
              </a:rPr>
              <a:t>• Cyber Kill Chain (Lockheed Martin): </a:t>
            </a:r>
            <a:r>
              <a:rPr sz="1150">
                <a:solidFill>
                  <a:srgbClr val="0F172A"/>
                </a:solidFill>
              </a:rPr>
              <a:t>Linear progression: Reconnaissance -&gt; Weaponization -&gt; Delivery -&gt; Exploitation -&gt; Installation -&gt; C2 -&gt; Actions on Objectives.</a:t>
            </a:r>
          </a:p>
          <a:p>
            <a:pPr>
              <a:spcAft>
                <a:spcPts val="800"/>
              </a:spcAft>
            </a:pPr>
            <a:r>
              <a:rPr b="1" sz="1200">
                <a:solidFill>
                  <a:srgbClr val="1B365D"/>
                </a:solidFill>
              </a:rPr>
              <a:t>• MITRE ATT&amp;CK Matrix: </a:t>
            </a:r>
            <a:r>
              <a:rPr sz="1150">
                <a:solidFill>
                  <a:srgbClr val="0F172A"/>
                </a:solidFill>
              </a:rPr>
              <a:t>Dynamic, empirical taxonomy of real-world adversary Tactics, Techniques, and Common Knowledge (TTPs).</a:t>
            </a:r>
          </a:p>
          <a:p>
            <a:pPr>
              <a:spcAft>
                <a:spcPts val="800"/>
              </a:spcAft>
            </a:pPr>
            <a:r>
              <a:rPr b="1" sz="1200">
                <a:solidFill>
                  <a:srgbClr val="1B365D"/>
                </a:solidFill>
              </a:rPr>
              <a:t>• Tactics vs Techniques: </a:t>
            </a:r>
            <a:r>
              <a:rPr sz="1150">
                <a:solidFill>
                  <a:srgbClr val="0F172A"/>
                </a:solidFill>
              </a:rPr>
              <a:t>Tactics represent the adversary's goal (e.g., Initial Access, Persistence, Privilege Escalation). Techniques represent how they accomplish it.</a:t>
            </a:r>
          </a:p>
          <a:p>
            <a:pPr>
              <a:spcAft>
                <a:spcPts val="800"/>
              </a:spcAft>
            </a:pPr>
            <a:r>
              <a:rPr b="1" sz="1200">
                <a:solidFill>
                  <a:srgbClr val="1B365D"/>
                </a:solidFill>
              </a:rPr>
              <a:t>• Threat Hunting &amp; Purple Teaming: </a:t>
            </a:r>
            <a:r>
              <a:rPr sz="1150">
                <a:solidFill>
                  <a:srgbClr val="0F172A"/>
                </a:solidFill>
              </a:rPr>
              <a:t>Using ATT&amp;CK matrices to identify visibility gaps in enterprise SIEM/EDR detection rules and emulate adversarial behavior.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CIS-4328 · MODULE 03: APPLICATION SECURITY</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Web Application Vulnerabilities: SQLi Mechanics</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CIS-4328 | Professor William Nash, Ph.D.</a:t>
            </a:r>
          </a:p>
        </p:txBody>
      </p:sp>
      <p:sp>
        <p:nvSpPr>
          <p:cNvPr id="8" name="Rounded Rectangle 7"/>
          <p:cNvSpPr/>
          <p:nvPr/>
        </p:nvSpPr>
        <p:spPr>
          <a:xfrm>
            <a:off x="731520" y="1280160"/>
            <a:ext cx="5303520" cy="50292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000"/>
              </a:spcAft>
            </a:pPr>
            <a:r>
              <a:rPr b="1" sz="1250">
                <a:solidFill>
                  <a:srgbClr val="1B365D"/>
                </a:solidFill>
              </a:rPr>
              <a:t>• OWASP Top 10 Context: </a:t>
            </a:r>
            <a:r>
              <a:rPr sz="1150">
                <a:solidFill>
                  <a:srgbClr val="0F172A"/>
                </a:solidFill>
              </a:rPr>
              <a:t>A03:2021-Injection remains one of the most critical enterprise application vulnerabilities worldwide.</a:t>
            </a:r>
          </a:p>
          <a:p>
            <a:pPr>
              <a:spcAft>
                <a:spcPts val="1000"/>
              </a:spcAft>
            </a:pPr>
            <a:r>
              <a:rPr b="1" sz="1250">
                <a:solidFill>
                  <a:srgbClr val="1B365D"/>
                </a:solidFill>
              </a:rPr>
              <a:t>• Root Cause of SQLi: </a:t>
            </a:r>
            <a:r>
              <a:rPr sz="1150">
                <a:solidFill>
                  <a:srgbClr val="0F172A"/>
                </a:solidFill>
              </a:rPr>
              <a:t>Flawed application architecture that treats untrusted user input as executable code instead of raw data.</a:t>
            </a:r>
          </a:p>
          <a:p>
            <a:pPr>
              <a:spcAft>
                <a:spcPts val="1000"/>
              </a:spcAft>
            </a:pPr>
            <a:r>
              <a:rPr b="1" sz="1250">
                <a:solidFill>
                  <a:srgbClr val="1B365D"/>
                </a:solidFill>
              </a:rPr>
              <a:t>• Tautological Exploit Vector: </a:t>
            </a:r>
            <a:r>
              <a:rPr sz="1150">
                <a:solidFill>
                  <a:srgbClr val="0F172A"/>
                </a:solidFill>
              </a:rPr>
              <a:t>Inputting `' OR '1'='1` forces the underlying database SQL parser to evaluate the WHERE clause as unconditionally TRUE.</a:t>
            </a:r>
          </a:p>
          <a:p>
            <a:pPr>
              <a:spcAft>
                <a:spcPts val="1000"/>
              </a:spcAft>
            </a:pPr>
            <a:r>
              <a:rPr b="1" sz="1250">
                <a:solidFill>
                  <a:srgbClr val="1B365D"/>
                </a:solidFill>
              </a:rPr>
              <a:t>• Attacker Exploitation Impact: </a:t>
            </a:r>
            <a:r>
              <a:rPr sz="1150">
                <a:solidFill>
                  <a:srgbClr val="0F172A"/>
                </a:solidFill>
              </a:rPr>
              <a:t>Bypasses authentication mechanisms, dumps entire customer databases (UNION-based), or executes OS commands (xp_cmdshell).</a:t>
            </a:r>
          </a:p>
          <a:p>
            <a:pPr>
              <a:spcAft>
                <a:spcPts val="1000"/>
              </a:spcAft>
            </a:pPr>
            <a:r>
              <a:rPr b="1" sz="1250">
                <a:solidFill>
                  <a:srgbClr val="1B365D"/>
                </a:solidFill>
              </a:rPr>
              <a:t>• Defensive Architecture: </a:t>
            </a:r>
            <a:r>
              <a:rPr sz="1150">
                <a:solidFill>
                  <a:srgbClr val="0F172A"/>
                </a:solidFill>
              </a:rPr>
              <a:t>Parameterized Queries (Prepared Statements) separate SQL code logic from data literals via AST precompilation.</a:t>
            </a:r>
          </a:p>
        </p:txBody>
      </p:sp>
      <p:pic>
        <p:nvPicPr>
          <p:cNvPr id="9" name="Picture 8" descr="owasp_sqli_architecture.png"/>
          <p:cNvPicPr>
            <a:picLocks noChangeAspect="1"/>
          </p:cNvPicPr>
          <p:nvPr/>
        </p:nvPicPr>
        <p:blipFill>
          <a:blip r:embed="rId2"/>
          <a:stretch>
            <a:fillRect/>
          </a:stretch>
        </p:blipFill>
        <p:spPr>
          <a:xfrm>
            <a:off x="6263640" y="1280160"/>
            <a:ext cx="5193792" cy="1230781"/>
          </a:xfrm>
          <a:prstGeom prst="rect">
            <a:avLst/>
          </a:prstGeom>
          <a:ln w="19050">
            <a:solidFill>
              <a:srgbClr val="D9A74A"/>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CIS-4328 · MODULE 04: THREAT ANALYSIS</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Modern Malware: Living-off-the-Land (LOLBins)</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CIS-4328 | Professor William Nash, Ph.D.</a:t>
            </a:r>
          </a:p>
        </p:txBody>
      </p:sp>
      <p:sp>
        <p:nvSpPr>
          <p:cNvPr id="8" name="Rounded Rectangle 7"/>
          <p:cNvSpPr/>
          <p:nvPr/>
        </p:nvSpPr>
        <p:spPr>
          <a:xfrm>
            <a:off x="731520" y="1280160"/>
            <a:ext cx="5303520" cy="50292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000"/>
              </a:spcAft>
            </a:pPr>
            <a:r>
              <a:rPr b="1" sz="1250">
                <a:solidFill>
                  <a:srgbClr val="1B365D"/>
                </a:solidFill>
              </a:rPr>
              <a:t>• Traditional vs Modern Malware: </a:t>
            </a:r>
            <a:r>
              <a:rPr sz="1150">
                <a:solidFill>
                  <a:srgbClr val="0F172A"/>
                </a:solidFill>
              </a:rPr>
              <a:t>Legacy compiled PE binaries dropped on disk are rapidly detected by signature-based AV and hash lookups.</a:t>
            </a:r>
          </a:p>
          <a:p>
            <a:pPr>
              <a:spcAft>
                <a:spcPts val="1000"/>
              </a:spcAft>
            </a:pPr>
            <a:r>
              <a:rPr b="1" sz="1250">
                <a:solidFill>
                  <a:srgbClr val="1B365D"/>
                </a:solidFill>
              </a:rPr>
              <a:t>• Living-off-the-Land Binaries (LOLBins): </a:t>
            </a:r>
            <a:r>
              <a:rPr sz="1150">
                <a:solidFill>
                  <a:srgbClr val="0F172A"/>
                </a:solidFill>
              </a:rPr>
              <a:t>Adversaries abuse legitimate, trusted, digitally signed OS utilities (powershell.exe, certutil.exe, mshta.exe, wmic.exe).</a:t>
            </a:r>
          </a:p>
          <a:p>
            <a:pPr>
              <a:spcAft>
                <a:spcPts val="1000"/>
              </a:spcAft>
            </a:pPr>
            <a:r>
              <a:rPr b="1" sz="1250">
                <a:solidFill>
                  <a:srgbClr val="1B365D"/>
                </a:solidFill>
              </a:rPr>
              <a:t>• Fileless In-Memory Execution: </a:t>
            </a:r>
            <a:r>
              <a:rPr sz="1150">
                <a:solidFill>
                  <a:srgbClr val="0F172A"/>
                </a:solidFill>
              </a:rPr>
              <a:t>Malicious shellcode is injected directly into volatile RAM (e.g., via process hollowing), leaving zero artifacts on physical disk storage.</a:t>
            </a:r>
          </a:p>
          <a:p>
            <a:pPr>
              <a:spcAft>
                <a:spcPts val="1000"/>
              </a:spcAft>
            </a:pPr>
            <a:r>
              <a:rPr b="1" sz="1250">
                <a:solidFill>
                  <a:srgbClr val="1B365D"/>
                </a:solidFill>
              </a:rPr>
              <a:t>• Bypassing Defenses: </a:t>
            </a:r>
            <a:r>
              <a:rPr sz="1150">
                <a:solidFill>
                  <a:srgbClr val="0F172A"/>
                </a:solidFill>
              </a:rPr>
              <a:t>Because the executing process is signed by Microsoft or Apple, legacy antivirus engines assume the behavior is benign.</a:t>
            </a:r>
          </a:p>
          <a:p>
            <a:pPr>
              <a:spcAft>
                <a:spcPts val="1000"/>
              </a:spcAft>
            </a:pPr>
            <a:r>
              <a:rPr b="1" sz="1250">
                <a:solidFill>
                  <a:srgbClr val="1B365D"/>
                </a:solidFill>
              </a:rPr>
              <a:t>• Detection &amp; Mitigation: </a:t>
            </a:r>
            <a:r>
              <a:rPr sz="1150">
                <a:solidFill>
                  <a:srgbClr val="0F172A"/>
                </a:solidFill>
              </a:rPr>
              <a:t>Requires behavioral Endpoint Detection &amp; Response (EDR), script block logging (EID 4104), and strict Application Whitelisting (WDAC/AppLocker).</a:t>
            </a:r>
          </a:p>
        </p:txBody>
      </p:sp>
      <p:pic>
        <p:nvPicPr>
          <p:cNvPr id="9" name="Picture 8" descr="lolbins_vs_fileless_malware.png"/>
          <p:cNvPicPr>
            <a:picLocks noChangeAspect="1"/>
          </p:cNvPicPr>
          <p:nvPr/>
        </p:nvPicPr>
        <p:blipFill>
          <a:blip r:embed="rId2"/>
          <a:stretch>
            <a:fillRect/>
          </a:stretch>
        </p:blipFill>
        <p:spPr>
          <a:xfrm>
            <a:off x="6263640" y="1280160"/>
            <a:ext cx="5193792" cy="2840857"/>
          </a:xfrm>
          <a:prstGeom prst="rect">
            <a:avLst/>
          </a:prstGeom>
          <a:ln w="19050">
            <a:solidFill>
              <a:srgbClr val="D9A74A"/>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CIS-4328 · MODULE 05: CRYPTOGRAPHY</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Applied Cryptography: Ciphers, Hashes &amp; MACs</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CIS-4328 | Professor William Nash, Ph.D.</a:t>
            </a:r>
          </a:p>
        </p:txBody>
      </p:sp>
      <p:sp>
        <p:nvSpPr>
          <p:cNvPr id="8" name="Rounded Rectangle 7"/>
          <p:cNvSpPr/>
          <p:nvPr/>
        </p:nvSpPr>
        <p:spPr>
          <a:xfrm>
            <a:off x="73152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Symmetric vs. Asymmetric Encryption</a:t>
            </a:r>
          </a:p>
          <a:p>
            <a:pPr>
              <a:spcAft>
                <a:spcPts val="800"/>
              </a:spcAft>
            </a:pPr>
            <a:r>
              <a:rPr b="1" sz="1200">
                <a:solidFill>
                  <a:srgbClr val="1B365D"/>
                </a:solidFill>
              </a:rPr>
              <a:t>• Symmetric Cryptography: </a:t>
            </a:r>
            <a:r>
              <a:rPr sz="1150">
                <a:solidFill>
                  <a:srgbClr val="0F172A"/>
                </a:solidFill>
              </a:rPr>
              <a:t>Single shared secret key for encryption and decryption. Highly efficient for bulk data transport. Industry standard: AES-256 (GCM mode).</a:t>
            </a:r>
          </a:p>
          <a:p>
            <a:pPr>
              <a:spcAft>
                <a:spcPts val="800"/>
              </a:spcAft>
            </a:pPr>
            <a:r>
              <a:rPr b="1" sz="1200">
                <a:solidFill>
                  <a:srgbClr val="1B365D"/>
                </a:solidFill>
              </a:rPr>
              <a:t>• Symmetric Modes of Operation: </a:t>
            </a:r>
            <a:r>
              <a:rPr sz="1150">
                <a:solidFill>
                  <a:srgbClr val="0F172A"/>
                </a:solidFill>
              </a:rPr>
              <a:t>ECB (vulnerable, preserves plaintext patterns) vs CBC (requires IV) vs GCM (Galois/Counter Mode provides authenticated encryption).</a:t>
            </a:r>
          </a:p>
          <a:p>
            <a:pPr>
              <a:spcAft>
                <a:spcPts val="800"/>
              </a:spcAft>
            </a:pPr>
            <a:r>
              <a:rPr b="1" sz="1200">
                <a:solidFill>
                  <a:srgbClr val="1B365D"/>
                </a:solidFill>
              </a:rPr>
              <a:t>• Asymmetric Cryptography: </a:t>
            </a:r>
            <a:r>
              <a:rPr sz="1150">
                <a:solidFill>
                  <a:srgbClr val="0F172A"/>
                </a:solidFill>
              </a:rPr>
              <a:t>KeyPair: Public key encrypts / verifies; Private key decrypts / signs. Solves key distribution. Standards: RSA (3072+ bit), ECC (ECDSA, Ed25519).</a:t>
            </a:r>
          </a:p>
          <a:p>
            <a:pPr>
              <a:spcAft>
                <a:spcPts val="800"/>
              </a:spcAft>
            </a:pPr>
            <a:r>
              <a:rPr b="1" sz="1200">
                <a:solidFill>
                  <a:srgbClr val="1B365D"/>
                </a:solidFill>
              </a:rPr>
              <a:t>• Hybrid Cryptosystems: </a:t>
            </a:r>
            <a:r>
              <a:rPr sz="1150">
                <a:solidFill>
                  <a:srgbClr val="0F172A"/>
                </a:solidFill>
              </a:rPr>
              <a:t>Combines both: Asymmetric exchange negotiates an ephemeral symmetric session key (e.g., via ECDHE), then bulk data encrypts via AES.</a:t>
            </a:r>
          </a:p>
        </p:txBody>
      </p:sp>
      <p:sp>
        <p:nvSpPr>
          <p:cNvPr id="9" name="Rounded Rectangle 8"/>
          <p:cNvSpPr/>
          <p:nvPr/>
        </p:nvSpPr>
        <p:spPr>
          <a:xfrm>
            <a:off x="626364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Cryptographic Hashing &amp; Integrity</a:t>
            </a:r>
          </a:p>
          <a:p>
            <a:pPr>
              <a:spcAft>
                <a:spcPts val="800"/>
              </a:spcAft>
            </a:pPr>
            <a:r>
              <a:rPr b="1" sz="1200">
                <a:solidFill>
                  <a:srgbClr val="1B365D"/>
                </a:solidFill>
              </a:rPr>
              <a:t>• One-Way Hash Properties: </a:t>
            </a:r>
            <a:r>
              <a:rPr sz="1150">
                <a:solidFill>
                  <a:srgbClr val="0F172A"/>
                </a:solidFill>
              </a:rPr>
              <a:t>Pre-image resistance (irreversible), Second pre-image resistance, Collision resistance (no two inputs yield same output), Avalanche effect.</a:t>
            </a:r>
          </a:p>
          <a:p>
            <a:pPr>
              <a:spcAft>
                <a:spcPts val="800"/>
              </a:spcAft>
            </a:pPr>
            <a:r>
              <a:rPr b="1" sz="1200">
                <a:solidFill>
                  <a:srgbClr val="1B365D"/>
                </a:solidFill>
              </a:rPr>
              <a:t>• Secure Hashing Standards: </a:t>
            </a:r>
            <a:r>
              <a:rPr sz="1150">
                <a:solidFill>
                  <a:srgbClr val="0F172A"/>
                </a:solidFill>
              </a:rPr>
              <a:t>SHA-256 and SHA-3 (Keccak). Deprecated standards: MD5 and SHA-1 (both proven broken via practical collision attacks).</a:t>
            </a:r>
          </a:p>
          <a:p>
            <a:pPr>
              <a:spcAft>
                <a:spcPts val="800"/>
              </a:spcAft>
            </a:pPr>
            <a:r>
              <a:rPr b="1" sz="1200">
                <a:solidFill>
                  <a:srgbClr val="1B365D"/>
                </a:solidFill>
              </a:rPr>
              <a:t>• Hashed Message Authentication (HMAC): </a:t>
            </a:r>
            <a:r>
              <a:rPr sz="1150">
                <a:solidFill>
                  <a:srgbClr val="0F172A"/>
                </a:solidFill>
              </a:rPr>
              <a:t>Combines a cryptographic hash function with a secret key to guarantee both data integrity and data authenticity simultaneously.</a:t>
            </a:r>
          </a:p>
          <a:p>
            <a:pPr>
              <a:spcAft>
                <a:spcPts val="800"/>
              </a:spcAft>
            </a:pPr>
            <a:r>
              <a:rPr b="1" sz="1200">
                <a:solidFill>
                  <a:srgbClr val="1B365D"/>
                </a:solidFill>
              </a:rPr>
              <a:t>• Password Hashing Functions: </a:t>
            </a:r>
            <a:r>
              <a:rPr sz="1150">
                <a:solidFill>
                  <a:srgbClr val="0F172A"/>
                </a:solidFill>
              </a:rPr>
              <a:t>Requires slow, memory-hard key derivation functions with unique cryptographic salts: Argon2id, bcrypt, PBKDF2 (prevents Rainbow Table attacks).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CIS-4328 · MODULE 06: IDENTITY &amp; PKI</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Public Key Infrastructure (PKI) &amp; Trust Chains</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CIS-4328 | Professor William Nash, Ph.D.</a:t>
            </a:r>
          </a:p>
        </p:txBody>
      </p:sp>
      <p:sp>
        <p:nvSpPr>
          <p:cNvPr id="8" name="Rounded Rectangle 7"/>
          <p:cNvSpPr/>
          <p:nvPr/>
        </p:nvSpPr>
        <p:spPr>
          <a:xfrm>
            <a:off x="731520" y="1280160"/>
            <a:ext cx="5303520" cy="50292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000"/>
              </a:spcAft>
            </a:pPr>
            <a:r>
              <a:rPr b="1" sz="1250">
                <a:solidFill>
                  <a:srgbClr val="1B365D"/>
                </a:solidFill>
              </a:rPr>
              <a:t>• PKI Architectural Purpose: </a:t>
            </a:r>
            <a:r>
              <a:rPr sz="1150">
                <a:solidFill>
                  <a:srgbClr val="0F172A"/>
                </a:solidFill>
              </a:rPr>
              <a:t>Binds human identities and server hostnames to verified public keys using digitally signed X.509 certificates.</a:t>
            </a:r>
          </a:p>
          <a:p>
            <a:pPr>
              <a:spcAft>
                <a:spcPts val="1000"/>
              </a:spcAft>
            </a:pPr>
            <a:r>
              <a:rPr b="1" sz="1250">
                <a:solidFill>
                  <a:srgbClr val="1B365D"/>
                </a:solidFill>
              </a:rPr>
              <a:t>• The Hierarchy of Trust: </a:t>
            </a:r>
            <a:r>
              <a:rPr sz="1150">
                <a:solidFill>
                  <a:srgbClr val="0F172A"/>
                </a:solidFill>
              </a:rPr>
              <a:t>Root Certificate Authority (CA) -&gt; Intermediate CA -&gt; End-Entity (Server/Client) Leaf Certificate.</a:t>
            </a:r>
          </a:p>
          <a:p>
            <a:pPr>
              <a:spcAft>
                <a:spcPts val="1000"/>
              </a:spcAft>
            </a:pPr>
            <a:r>
              <a:rPr b="1" sz="1250">
                <a:solidFill>
                  <a:srgbClr val="1B365D"/>
                </a:solidFill>
              </a:rPr>
              <a:t>• Root CA Offline Isolation: </a:t>
            </a:r>
            <a:r>
              <a:rPr sz="1150">
                <a:solidFill>
                  <a:srgbClr val="0F172A"/>
                </a:solidFill>
              </a:rPr>
              <a:t>Root CAs are kept powered off in air-gapped secure vaults; intermediate CAs handle daily issuance to contain compromise risk.</a:t>
            </a:r>
          </a:p>
          <a:p>
            <a:pPr>
              <a:spcAft>
                <a:spcPts val="1000"/>
              </a:spcAft>
            </a:pPr>
            <a:r>
              <a:rPr b="1" sz="1250">
                <a:solidFill>
                  <a:srgbClr val="1B365D"/>
                </a:solidFill>
              </a:rPr>
              <a:t>• Cryptographic Verification: </a:t>
            </a:r>
            <a:r>
              <a:rPr sz="1150">
                <a:solidFill>
                  <a:srgbClr val="0F172A"/>
                </a:solidFill>
              </a:rPr>
              <a:t>Browser walks the chain: validates each certificate's digital signature using the public key of the issuing parent CA up to a trusted Root.</a:t>
            </a:r>
          </a:p>
          <a:p>
            <a:pPr>
              <a:spcAft>
                <a:spcPts val="1000"/>
              </a:spcAft>
            </a:pPr>
            <a:r>
              <a:rPr b="1" sz="1250">
                <a:solidFill>
                  <a:srgbClr val="1B365D"/>
                </a:solidFill>
              </a:rPr>
              <a:t>• Revocation Protocols: </a:t>
            </a:r>
            <a:r>
              <a:rPr sz="1150">
                <a:solidFill>
                  <a:srgbClr val="0F172A"/>
                </a:solidFill>
              </a:rPr>
              <a:t>Online Certificate Status Protocol (OCSP) and Certificate Revocation Lists (CRLs) invalidate compromised private keys before expiry.</a:t>
            </a:r>
          </a:p>
        </p:txBody>
      </p:sp>
      <p:pic>
        <p:nvPicPr>
          <p:cNvPr id="9" name="Picture 8" descr="pki_trust_chain_certificates.png"/>
          <p:cNvPicPr>
            <a:picLocks noChangeAspect="1"/>
          </p:cNvPicPr>
          <p:nvPr/>
        </p:nvPicPr>
        <p:blipFill>
          <a:blip r:embed="rId2"/>
          <a:stretch>
            <a:fillRect/>
          </a:stretch>
        </p:blipFill>
        <p:spPr>
          <a:xfrm>
            <a:off x="6263640" y="1280160"/>
            <a:ext cx="5193792" cy="2811319"/>
          </a:xfrm>
          <a:prstGeom prst="rect">
            <a:avLst/>
          </a:prstGeom>
          <a:ln w="19050">
            <a:solidFill>
              <a:srgbClr val="D9A74A"/>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CIS-4328 · MODULE 07: SECURITY ARCHITECTURE</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Enterprise Network Security &amp; Zero Trust Architecture</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CIS-4328 | Professor William Nash, Ph.D.</a:t>
            </a:r>
          </a:p>
        </p:txBody>
      </p:sp>
      <p:sp>
        <p:nvSpPr>
          <p:cNvPr id="8" name="Rounded Rectangle 7"/>
          <p:cNvSpPr/>
          <p:nvPr/>
        </p:nvSpPr>
        <p:spPr>
          <a:xfrm>
            <a:off x="73152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Next-Generation Network Defense</a:t>
            </a:r>
          </a:p>
          <a:p>
            <a:pPr>
              <a:spcAft>
                <a:spcPts val="800"/>
              </a:spcAft>
            </a:pPr>
            <a:r>
              <a:rPr b="1" sz="1200">
                <a:solidFill>
                  <a:srgbClr val="1B365D"/>
                </a:solidFill>
              </a:rPr>
              <a:t>• Next-Gen Firewalls (NGFW): </a:t>
            </a:r>
            <a:r>
              <a:rPr sz="1150">
                <a:solidFill>
                  <a:srgbClr val="0F172A"/>
                </a:solidFill>
              </a:rPr>
              <a:t>Deep Packet Inspection (DPI) operating at Layer 7; inspects application payloads, performs SSL/TLS decryption, and blocks threat signatures.</a:t>
            </a:r>
          </a:p>
          <a:p>
            <a:pPr>
              <a:spcAft>
                <a:spcPts val="800"/>
              </a:spcAft>
            </a:pPr>
            <a:r>
              <a:rPr b="1" sz="1200">
                <a:solidFill>
                  <a:srgbClr val="1B365D"/>
                </a:solidFill>
              </a:rPr>
              <a:t>• Intrusion Detection &amp; Prevention (IDS/IPS): </a:t>
            </a:r>
            <a:r>
              <a:rPr sz="1150">
                <a:solidFill>
                  <a:srgbClr val="0F172A"/>
                </a:solidFill>
              </a:rPr>
              <a:t>Signature-based detection (Snort/Suricata rules) and behavioral anomaly detection to alert (IDS) or actively drop malicious flows (IPS).</a:t>
            </a:r>
          </a:p>
          <a:p>
            <a:pPr>
              <a:spcAft>
                <a:spcPts val="800"/>
              </a:spcAft>
            </a:pPr>
            <a:r>
              <a:rPr b="1" sz="1200">
                <a:solidFill>
                  <a:srgbClr val="1B365D"/>
                </a:solidFill>
              </a:rPr>
              <a:t>• Demilitarized Zones (DMZ): </a:t>
            </a:r>
            <a:r>
              <a:rPr sz="1150">
                <a:solidFill>
                  <a:srgbClr val="0F172A"/>
                </a:solidFill>
              </a:rPr>
              <a:t>Isolated perimeter subnet hosting internet-facing servers (web, mail, DNS), preventing direct inbound connections to the internal LAN.</a:t>
            </a:r>
          </a:p>
          <a:p>
            <a:pPr>
              <a:spcAft>
                <a:spcPts val="800"/>
              </a:spcAft>
            </a:pPr>
            <a:r>
              <a:rPr b="1" sz="1200">
                <a:solidFill>
                  <a:srgbClr val="1B365D"/>
                </a:solidFill>
              </a:rPr>
              <a:t>• Microsegmentation: </a:t>
            </a:r>
            <a:r>
              <a:rPr sz="1150">
                <a:solidFill>
                  <a:srgbClr val="0F172A"/>
                </a:solidFill>
              </a:rPr>
              <a:t>Granular security zoning inside the data center to prevent lateral movement by compromised workloads.</a:t>
            </a:r>
          </a:p>
        </p:txBody>
      </p:sp>
      <p:sp>
        <p:nvSpPr>
          <p:cNvPr id="9" name="Rounded Rectangle 8"/>
          <p:cNvSpPr/>
          <p:nvPr/>
        </p:nvSpPr>
        <p:spPr>
          <a:xfrm>
            <a:off x="626364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Zero Trust Architecture (ZTA / NIST SP 800-207)</a:t>
            </a:r>
          </a:p>
          <a:p>
            <a:pPr>
              <a:spcAft>
                <a:spcPts val="800"/>
              </a:spcAft>
            </a:pPr>
            <a:r>
              <a:rPr b="1" sz="1200">
                <a:solidFill>
                  <a:srgbClr val="1B365D"/>
                </a:solidFill>
              </a:rPr>
              <a:t>• Core Paradigm: </a:t>
            </a:r>
            <a:r>
              <a:rPr sz="1150">
                <a:solidFill>
                  <a:srgbClr val="0F172A"/>
                </a:solidFill>
              </a:rPr>
              <a:t>'Never Trust, Always Verify.' Eliminates implicit trust based solely on network location or IP subnet.</a:t>
            </a:r>
          </a:p>
          <a:p>
            <a:pPr>
              <a:spcAft>
                <a:spcPts val="800"/>
              </a:spcAft>
            </a:pPr>
            <a:r>
              <a:rPr b="1" sz="1200">
                <a:solidFill>
                  <a:srgbClr val="1B365D"/>
                </a:solidFill>
              </a:rPr>
              <a:t>• Policy Engine &amp; Policy Enforcement Point: </a:t>
            </a:r>
            <a:r>
              <a:rPr sz="1150">
                <a:solidFill>
                  <a:srgbClr val="0F172A"/>
                </a:solidFill>
              </a:rPr>
              <a:t>Every single transaction is explicitly authenticated, authorized, and encrypted before access is granted to an enterprise resource.</a:t>
            </a:r>
          </a:p>
          <a:p>
            <a:pPr>
              <a:spcAft>
                <a:spcPts val="800"/>
              </a:spcAft>
            </a:pPr>
            <a:r>
              <a:rPr b="1" sz="1200">
                <a:solidFill>
                  <a:srgbClr val="1B365D"/>
                </a:solidFill>
              </a:rPr>
              <a:t>• Context-Aware Access Evaluation: </a:t>
            </a:r>
            <a:r>
              <a:rPr sz="1150">
                <a:solidFill>
                  <a:srgbClr val="0F172A"/>
                </a:solidFill>
              </a:rPr>
              <a:t>Evaluates user identity, device health posture, geolocation, behavioral anomalies, and time of access dynamically.</a:t>
            </a:r>
          </a:p>
          <a:p>
            <a:pPr>
              <a:spcAft>
                <a:spcPts val="800"/>
              </a:spcAft>
            </a:pPr>
            <a:r>
              <a:rPr b="1" sz="1200">
                <a:solidFill>
                  <a:srgbClr val="1B365D"/>
                </a:solidFill>
              </a:rPr>
              <a:t>• Data-Centric Security: </a:t>
            </a:r>
            <a:r>
              <a:rPr sz="1150">
                <a:solidFill>
                  <a:srgbClr val="0F172A"/>
                </a:solidFill>
              </a:rPr>
              <a:t>Focuses protection directly on enterprise data assets rather than relying on brittle network perimeter boundaries.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CIS-4328 · MODULE 08: IDENTITY GOVERNANCE</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Identity &amp; Access Management (IAM) &amp; Authentication</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CIS-4328 | Professor William Nash, Ph.D.</a:t>
            </a:r>
          </a:p>
        </p:txBody>
      </p:sp>
      <p:sp>
        <p:nvSpPr>
          <p:cNvPr id="8" name="Rounded Rectangle 7"/>
          <p:cNvSpPr/>
          <p:nvPr/>
        </p:nvSpPr>
        <p:spPr>
          <a:xfrm>
            <a:off x="73152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Authentication Factors &amp; Modern MFA</a:t>
            </a:r>
          </a:p>
          <a:p>
            <a:pPr>
              <a:spcAft>
                <a:spcPts val="800"/>
              </a:spcAft>
            </a:pPr>
            <a:r>
              <a:rPr b="1" sz="1200">
                <a:solidFill>
                  <a:srgbClr val="1B365D"/>
                </a:solidFill>
              </a:rPr>
              <a:t>• The Three Classic Factors: </a:t>
            </a:r>
            <a:r>
              <a:rPr sz="1150">
                <a:solidFill>
                  <a:srgbClr val="0F172A"/>
                </a:solidFill>
              </a:rPr>
              <a:t>Something you know (passwords, PINs), Something you have (smartcards, hardware tokens), Something you are (biometrics: fingerprint, facial scan).</a:t>
            </a:r>
          </a:p>
          <a:p>
            <a:pPr>
              <a:spcAft>
                <a:spcPts val="800"/>
              </a:spcAft>
            </a:pPr>
            <a:r>
              <a:rPr b="1" sz="1200">
                <a:solidFill>
                  <a:srgbClr val="1B365D"/>
                </a:solidFill>
              </a:rPr>
              <a:t>• MFA Vulnerability Vectors: </a:t>
            </a:r>
            <a:r>
              <a:rPr sz="1150">
                <a:solidFill>
                  <a:srgbClr val="0F172A"/>
                </a:solidFill>
              </a:rPr>
              <a:t>SMS OTP is vulnerable to SIM-swapping and SS7 interception. Push notifications are vulnerable to MFA Fatigue / Prompt Bombing attacks.</a:t>
            </a:r>
          </a:p>
          <a:p>
            <a:pPr>
              <a:spcAft>
                <a:spcPts val="800"/>
              </a:spcAft>
            </a:pPr>
            <a:r>
              <a:rPr b="1" sz="1200">
                <a:solidFill>
                  <a:srgbClr val="1B365D"/>
                </a:solidFill>
              </a:rPr>
              <a:t>• Phishing-Resistant MFA (FIDO2 / WebAuthn): </a:t>
            </a:r>
            <a:r>
              <a:rPr sz="1150">
                <a:solidFill>
                  <a:srgbClr val="0F172A"/>
                </a:solidFill>
              </a:rPr>
              <a:t>Hardware security keys (YubiKeys) using public key cryptography bound to the origin URL, rendering credential harvesting attacks impossible.</a:t>
            </a:r>
          </a:p>
          <a:p>
            <a:pPr>
              <a:spcAft>
                <a:spcPts val="800"/>
              </a:spcAft>
            </a:pPr>
            <a:r>
              <a:rPr b="1" sz="1200">
                <a:solidFill>
                  <a:srgbClr val="1B365D"/>
                </a:solidFill>
              </a:rPr>
              <a:t>• Passwordless Authentication: </a:t>
            </a:r>
            <a:r>
              <a:rPr sz="1150">
                <a:solidFill>
                  <a:srgbClr val="0F172A"/>
                </a:solidFill>
              </a:rPr>
              <a:t>Leverages device biometrics (Windows Hello, Touch ID) to unlock local private keys for token exchange.</a:t>
            </a:r>
          </a:p>
        </p:txBody>
      </p:sp>
      <p:sp>
        <p:nvSpPr>
          <p:cNvPr id="9" name="Rounded Rectangle 8"/>
          <p:cNvSpPr/>
          <p:nvPr/>
        </p:nvSpPr>
        <p:spPr>
          <a:xfrm>
            <a:off x="626364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Enterprise Federated Identity Protocols</a:t>
            </a:r>
          </a:p>
          <a:p>
            <a:pPr>
              <a:spcAft>
                <a:spcPts val="800"/>
              </a:spcAft>
            </a:pPr>
            <a:r>
              <a:rPr b="1" sz="1200">
                <a:solidFill>
                  <a:srgbClr val="1B365D"/>
                </a:solidFill>
              </a:rPr>
              <a:t>• Kerberos Protocol: </a:t>
            </a:r>
            <a:r>
              <a:rPr sz="1150">
                <a:solidFill>
                  <a:srgbClr val="0F172A"/>
                </a:solidFill>
              </a:rPr>
              <a:t>Ticket-based symmetric authentication protocol used within on-prem Active Directory (KDC, AS, TGS, TGT).</a:t>
            </a:r>
          </a:p>
          <a:p>
            <a:pPr>
              <a:spcAft>
                <a:spcPts val="800"/>
              </a:spcAft>
            </a:pPr>
            <a:r>
              <a:rPr b="1" sz="1200">
                <a:solidFill>
                  <a:srgbClr val="1B365D"/>
                </a:solidFill>
              </a:rPr>
              <a:t>• SAML 2.0 (Security Assertion Markup): </a:t>
            </a:r>
            <a:r>
              <a:rPr sz="1150">
                <a:solidFill>
                  <a:srgbClr val="0F172A"/>
                </a:solidFill>
              </a:rPr>
              <a:t>XML-based federation protocol used for enterprise web Single Sign-On (SSO) between Identity Providers (IdP) and Service Providers (SP).</a:t>
            </a:r>
          </a:p>
          <a:p>
            <a:pPr>
              <a:spcAft>
                <a:spcPts val="800"/>
              </a:spcAft>
            </a:pPr>
            <a:r>
              <a:rPr b="1" sz="1200">
                <a:solidFill>
                  <a:srgbClr val="1B365D"/>
                </a:solidFill>
              </a:rPr>
              <a:t>• OAuth 2.0 Authorization: </a:t>
            </a:r>
            <a:r>
              <a:rPr sz="1150">
                <a:solidFill>
                  <a:srgbClr val="0F172A"/>
                </a:solidFill>
              </a:rPr>
              <a:t>Token-based delegation framework issuing scoped Access Tokens and Refresh Tokens (JSON Web Tokens - JWT).</a:t>
            </a:r>
          </a:p>
          <a:p>
            <a:pPr>
              <a:spcAft>
                <a:spcPts val="800"/>
              </a:spcAft>
            </a:pPr>
            <a:r>
              <a:rPr b="1" sz="1200">
                <a:solidFill>
                  <a:srgbClr val="1B365D"/>
                </a:solidFill>
              </a:rPr>
              <a:t>• OpenID Connect (OIDC): </a:t>
            </a:r>
            <a:r>
              <a:rPr sz="1150">
                <a:solidFill>
                  <a:srgbClr val="0F172A"/>
                </a:solidFill>
              </a:rPr>
              <a:t>Identity layer built on top of OAuth 2.0 that provides verifiable ID Tokens containing user identity claims.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CIS-4328 · MODULE 09: SECURITY OPERATIONS</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Incident Response &amp; Digital Forensics Lifecycle</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CIS-4328 | Professor William Nash, Ph.D.</a:t>
            </a:r>
          </a:p>
        </p:txBody>
      </p:sp>
      <p:sp>
        <p:nvSpPr>
          <p:cNvPr id="8" name="Rounded Rectangle 7"/>
          <p:cNvSpPr/>
          <p:nvPr/>
        </p:nvSpPr>
        <p:spPr>
          <a:xfrm>
            <a:off x="73152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NIST SP 800-61 Rev 2 IR Lifecycle</a:t>
            </a:r>
          </a:p>
          <a:p>
            <a:pPr>
              <a:spcAft>
                <a:spcPts val="800"/>
              </a:spcAft>
            </a:pPr>
            <a:r>
              <a:rPr b="1" sz="1200">
                <a:solidFill>
                  <a:srgbClr val="1B365D"/>
                </a:solidFill>
              </a:rPr>
              <a:t>• Phase 1: Preparation: </a:t>
            </a:r>
            <a:r>
              <a:rPr sz="1150">
                <a:solidFill>
                  <a:srgbClr val="0F172A"/>
                </a:solidFill>
              </a:rPr>
              <a:t>Developing IR plans, establishing communication out-of-band channels, configuring EDR/SIEM log retention, training CSIRT personnel.</a:t>
            </a:r>
          </a:p>
          <a:p>
            <a:pPr>
              <a:spcAft>
                <a:spcPts val="800"/>
              </a:spcAft>
            </a:pPr>
            <a:r>
              <a:rPr b="1" sz="1200">
                <a:solidFill>
                  <a:srgbClr val="1B365D"/>
                </a:solidFill>
              </a:rPr>
              <a:t>• Phase 2: Detection &amp; Analysis: </a:t>
            </a:r>
            <a:r>
              <a:rPr sz="1150">
                <a:solidFill>
                  <a:srgbClr val="0F172A"/>
                </a:solidFill>
              </a:rPr>
              <a:t>Correlating indicators of compromise (IOCs), triage alerts, determining attack scope, establishing baseline timeline.</a:t>
            </a:r>
          </a:p>
          <a:p>
            <a:pPr>
              <a:spcAft>
                <a:spcPts val="800"/>
              </a:spcAft>
            </a:pPr>
            <a:r>
              <a:rPr b="1" sz="1200">
                <a:solidFill>
                  <a:srgbClr val="1B365D"/>
                </a:solidFill>
              </a:rPr>
              <a:t>• Phase 3: Containment, Eradication &amp; Recovery: </a:t>
            </a:r>
            <a:r>
              <a:rPr sz="1150">
                <a:solidFill>
                  <a:srgbClr val="0F172A"/>
                </a:solidFill>
              </a:rPr>
              <a:t>Short-term containment (network isolation), long-term containment, purging malware/backdoors, rebuilding from clean gold images.</a:t>
            </a:r>
          </a:p>
          <a:p>
            <a:pPr>
              <a:spcAft>
                <a:spcPts val="800"/>
              </a:spcAft>
            </a:pPr>
            <a:r>
              <a:rPr b="1" sz="1200">
                <a:solidFill>
                  <a:srgbClr val="1B365D"/>
                </a:solidFill>
              </a:rPr>
              <a:t>• Phase 4: Post-Incident Activity: </a:t>
            </a:r>
            <a:r>
              <a:rPr sz="1150">
                <a:solidFill>
                  <a:srgbClr val="0F172A"/>
                </a:solidFill>
              </a:rPr>
              <a:t>Conducting 'Lessons Learned' reviews, updating firewall/EDR rules, and calculating total organizational financial/operational impact.</a:t>
            </a:r>
          </a:p>
        </p:txBody>
      </p:sp>
      <p:sp>
        <p:nvSpPr>
          <p:cNvPr id="9" name="Rounded Rectangle 8"/>
          <p:cNvSpPr/>
          <p:nvPr/>
        </p:nvSpPr>
        <p:spPr>
          <a:xfrm>
            <a:off x="626364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Digital Forensics &amp; Evidence Integrity</a:t>
            </a:r>
          </a:p>
          <a:p>
            <a:pPr>
              <a:spcAft>
                <a:spcPts val="800"/>
              </a:spcAft>
            </a:pPr>
            <a:r>
              <a:rPr b="1" sz="1200">
                <a:solidFill>
                  <a:srgbClr val="1B365D"/>
                </a:solidFill>
              </a:rPr>
              <a:t>• Order of Volatility (RFC 3227): </a:t>
            </a:r>
            <a:r>
              <a:rPr sz="1150">
                <a:solidFill>
                  <a:srgbClr val="0F172A"/>
                </a:solidFill>
              </a:rPr>
              <a:t>Capture evidence from most volatile to least: CPU registers/cache -&gt; RAM -&gt; Network state -&gt; Disk storage -&gt; Backup media.</a:t>
            </a:r>
          </a:p>
          <a:p>
            <a:pPr>
              <a:spcAft>
                <a:spcPts val="800"/>
              </a:spcAft>
            </a:pPr>
            <a:r>
              <a:rPr b="1" sz="1200">
                <a:solidFill>
                  <a:srgbClr val="1B365D"/>
                </a:solidFill>
              </a:rPr>
              <a:t>• Cryptographic Chain of Custody: </a:t>
            </a:r>
            <a:r>
              <a:rPr sz="1150">
                <a:solidFill>
                  <a:srgbClr val="0F172A"/>
                </a:solidFill>
              </a:rPr>
              <a:t>Bit-stream forensic disk images must be hashed immediately (SHA-256) upon acquisition to prove evidence has not been tampered with in court.</a:t>
            </a:r>
          </a:p>
          <a:p>
            <a:pPr>
              <a:spcAft>
                <a:spcPts val="800"/>
              </a:spcAft>
            </a:pPr>
            <a:r>
              <a:rPr b="1" sz="1200">
                <a:solidFill>
                  <a:srgbClr val="1B365D"/>
                </a:solidFill>
              </a:rPr>
              <a:t>• Memory Analysis (Volatility Framework): </a:t>
            </a:r>
            <a:r>
              <a:rPr sz="1150">
                <a:solidFill>
                  <a:srgbClr val="0F172A"/>
                </a:solidFill>
              </a:rPr>
              <a:t>Extracting running processes, active network sockets, injected DLLs, and decrypted encryption keys from volatile RAM dumps.</a:t>
            </a:r>
          </a:p>
          <a:p>
            <a:pPr>
              <a:spcAft>
                <a:spcPts val="800"/>
              </a:spcAft>
            </a:pPr>
            <a:r>
              <a:rPr b="1" sz="1200">
                <a:solidFill>
                  <a:srgbClr val="1B365D"/>
                </a:solidFill>
              </a:rPr>
              <a:t>• Timeline Reconstruction: </a:t>
            </a:r>
            <a:r>
              <a:rPr sz="1150">
                <a:solidFill>
                  <a:srgbClr val="0F172A"/>
                </a:solidFill>
              </a:rPr>
              <a:t>Parsing Master File Table ($MFT), shimcache, amcache, and Windows Event Logs to establish exact adversary intrusion sequence.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CIS-4328 · MODULE 10: STRATEGIC GOVERNANCE</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Security Governance, Risk &amp; Compliance (GRC)</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CIS-4328 | Professor William Nash, Ph.D.</a:t>
            </a:r>
          </a:p>
        </p:txBody>
      </p:sp>
      <p:sp>
        <p:nvSpPr>
          <p:cNvPr id="8" name="Rounded Rectangle 7"/>
          <p:cNvSpPr/>
          <p:nvPr/>
        </p:nvSpPr>
        <p:spPr>
          <a:xfrm>
            <a:off x="73152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Risk Assessment &amp; Quantitative Modeling</a:t>
            </a:r>
          </a:p>
          <a:p>
            <a:pPr>
              <a:spcAft>
                <a:spcPts val="800"/>
              </a:spcAft>
            </a:pPr>
            <a:r>
              <a:rPr b="1" sz="1200">
                <a:solidFill>
                  <a:srgbClr val="1B365D"/>
                </a:solidFill>
              </a:rPr>
              <a:t>• Risk Formula: </a:t>
            </a:r>
            <a:r>
              <a:rPr sz="1150">
                <a:solidFill>
                  <a:srgbClr val="0F172A"/>
                </a:solidFill>
              </a:rPr>
              <a:t>Risk = Threat x Vulnerability x Asset Impact (or Likelihood x Impact).</a:t>
            </a:r>
          </a:p>
          <a:p>
            <a:pPr>
              <a:spcAft>
                <a:spcPts val="800"/>
              </a:spcAft>
            </a:pPr>
            <a:r>
              <a:rPr b="1" sz="1200">
                <a:solidFill>
                  <a:srgbClr val="1B365D"/>
                </a:solidFill>
              </a:rPr>
              <a:t>• Quantitative Risk Calculations: </a:t>
            </a:r>
            <a:r>
              <a:rPr sz="1150">
                <a:solidFill>
                  <a:srgbClr val="0F172A"/>
                </a:solidFill>
              </a:rPr>
              <a:t>Asset Value (AV), Exposure Factor (EF), Single Loss Expectancy (SLE = AV x EF), Annualized Rate of Occurrence (ARO), Annualized Loss Expectancy (ALE = SLE x ARO).</a:t>
            </a:r>
          </a:p>
          <a:p>
            <a:pPr>
              <a:spcAft>
                <a:spcPts val="800"/>
              </a:spcAft>
            </a:pPr>
            <a:r>
              <a:rPr b="1" sz="1200">
                <a:solidFill>
                  <a:srgbClr val="1B365D"/>
                </a:solidFill>
              </a:rPr>
              <a:t>• Risk Treatment Strategies: </a:t>
            </a:r>
            <a:r>
              <a:rPr sz="1150">
                <a:solidFill>
                  <a:srgbClr val="0F172A"/>
                </a:solidFill>
              </a:rPr>
              <a:t>Risk Mitigation (implement controls), Risk Transference (cyber insurance), Risk Acceptance (documented leadership sign-off), Risk Avoidance (cease high-risk activity).</a:t>
            </a:r>
          </a:p>
          <a:p>
            <a:pPr>
              <a:spcAft>
                <a:spcPts val="800"/>
              </a:spcAft>
            </a:pPr>
            <a:r>
              <a:rPr b="1" sz="1200">
                <a:solidFill>
                  <a:srgbClr val="1B365D"/>
                </a:solidFill>
              </a:rPr>
              <a:t>• Business Impact Analysis (BIA): </a:t>
            </a:r>
            <a:r>
              <a:rPr sz="1150">
                <a:solidFill>
                  <a:srgbClr val="0F172A"/>
                </a:solidFill>
              </a:rPr>
              <a:t>Establishing Recovery Time Objective (RTO) and Recovery Point Objective (RPO) for disaster recovery planning.</a:t>
            </a:r>
          </a:p>
        </p:txBody>
      </p:sp>
      <p:sp>
        <p:nvSpPr>
          <p:cNvPr id="9" name="Rounded Rectangle 8"/>
          <p:cNvSpPr/>
          <p:nvPr/>
        </p:nvSpPr>
        <p:spPr>
          <a:xfrm>
            <a:off x="626364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Regulatory &amp; Security Frameworks</a:t>
            </a:r>
          </a:p>
          <a:p>
            <a:pPr>
              <a:spcAft>
                <a:spcPts val="800"/>
              </a:spcAft>
            </a:pPr>
            <a:r>
              <a:rPr b="1" sz="1200">
                <a:solidFill>
                  <a:srgbClr val="1B365D"/>
                </a:solidFill>
              </a:rPr>
              <a:t>• NIST Cybersecurity Framework (CSF 2.0): </a:t>
            </a:r>
            <a:r>
              <a:rPr sz="1150">
                <a:solidFill>
                  <a:srgbClr val="0F172A"/>
                </a:solidFill>
              </a:rPr>
              <a:t>Six Core Functions: Govern, Identify, Protect, Detect, Respond, and Recover.</a:t>
            </a:r>
          </a:p>
          <a:p>
            <a:pPr>
              <a:spcAft>
                <a:spcPts val="800"/>
              </a:spcAft>
            </a:pPr>
            <a:r>
              <a:rPr b="1" sz="1200">
                <a:solidFill>
                  <a:srgbClr val="1B365D"/>
                </a:solidFill>
              </a:rPr>
              <a:t>• ISO/IEC 27001:2022: </a:t>
            </a:r>
            <a:r>
              <a:rPr sz="1150">
                <a:solidFill>
                  <a:srgbClr val="0F172A"/>
                </a:solidFill>
              </a:rPr>
              <a:t>International standard for designing, implementing, and certifying an Information Security Management System (ISMS).</a:t>
            </a:r>
          </a:p>
          <a:p>
            <a:pPr>
              <a:spcAft>
                <a:spcPts val="800"/>
              </a:spcAft>
            </a:pPr>
            <a:r>
              <a:rPr b="1" sz="1200">
                <a:solidFill>
                  <a:srgbClr val="1B365D"/>
                </a:solidFill>
              </a:rPr>
              <a:t>• Regulatory Mandates: </a:t>
            </a:r>
            <a:r>
              <a:rPr sz="1150">
                <a:solidFill>
                  <a:srgbClr val="0F172A"/>
                </a:solidFill>
              </a:rPr>
              <a:t>HIPAA (healthcare data privacy &amp; security), PCI-DSS (payment card protection), Sarbanes-Oxley (financial reporting integrity), GDPR (data privacy rights).</a:t>
            </a:r>
          </a:p>
          <a:p>
            <a:pPr>
              <a:spcAft>
                <a:spcPts val="800"/>
              </a:spcAft>
            </a:pPr>
            <a:r>
              <a:rPr b="1" sz="1200">
                <a:solidFill>
                  <a:srgbClr val="1B365D"/>
                </a:solidFill>
              </a:rPr>
              <a:t>• Continuous Auditing &amp; Assurance: </a:t>
            </a:r>
            <a:r>
              <a:rPr sz="1150">
                <a:solidFill>
                  <a:srgbClr val="0F172A"/>
                </a:solidFill>
              </a:rPr>
              <a:t>Third-party SOC 2 Type II attestation evaluating Trust Services Criteria (Security, Availability, Confidentiality).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B365D"/>
          </a:solidFill>
          <a:ln>
            <a:solidFill>
              <a:srgbClr val="1B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D9A74A"/>
          </a:solidFill>
          <a:ln>
            <a:solidFill>
              <a:srgbClr val="D9A7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
            <a:ext cx="10515600" cy="274320"/>
          </a:xfrm>
          <a:prstGeom prst="rect">
            <a:avLst/>
          </a:prstGeom>
          <a:noFill/>
        </p:spPr>
        <p:txBody>
          <a:bodyPr wrap="square">
            <a:spAutoFit/>
          </a:bodyPr>
          <a:lstStyle/>
          <a:p>
            <a:pPr>
              <a:defRPr sz="1000" b="1">
                <a:solidFill>
                  <a:srgbClr val="D9A74A"/>
                </a:solidFill>
              </a:defRPr>
            </a:pPr>
            <a:r>
              <a:t>CIS-4328 · COURSE CAPSTONE</a:t>
            </a:r>
          </a:p>
        </p:txBody>
      </p:sp>
      <p:sp>
        <p:nvSpPr>
          <p:cNvPr id="6" name="TextBox 5"/>
          <p:cNvSpPr txBox="1"/>
          <p:nvPr/>
        </p:nvSpPr>
        <p:spPr>
          <a:xfrm>
            <a:off x="731520" y="347472"/>
            <a:ext cx="10515600" cy="640080"/>
          </a:xfrm>
          <a:prstGeom prst="rect">
            <a:avLst/>
          </a:prstGeom>
          <a:noFill/>
        </p:spPr>
        <p:txBody>
          <a:bodyPr wrap="square">
            <a:spAutoFit/>
          </a:bodyPr>
          <a:lstStyle/>
          <a:p>
            <a:pPr>
              <a:defRPr sz="2000" b="1">
                <a:solidFill>
                  <a:srgbClr val="FFFFFF"/>
                </a:solidFill>
              </a:defRPr>
            </a:pPr>
            <a:r>
              <a:t>Course Synthesis &amp; Professional Career Pathways</a:t>
            </a:r>
          </a:p>
        </p:txBody>
      </p:sp>
      <p:sp>
        <p:nvSpPr>
          <p:cNvPr id="7" name="TextBox 6"/>
          <p:cNvSpPr txBox="1"/>
          <p:nvPr/>
        </p:nvSpPr>
        <p:spPr>
          <a:xfrm>
            <a:off x="731520" y="6492240"/>
            <a:ext cx="10728655" cy="320040"/>
          </a:xfrm>
          <a:prstGeom prst="rect">
            <a:avLst/>
          </a:prstGeom>
          <a:noFill/>
        </p:spPr>
        <p:txBody>
          <a:bodyPr wrap="none">
            <a:spAutoFit/>
          </a:bodyPr>
          <a:lstStyle/>
          <a:p>
            <a:pPr>
              <a:defRPr sz="900">
                <a:solidFill>
                  <a:srgbClr val="64748B"/>
                </a:solidFill>
              </a:defRPr>
            </a:pPr>
            <a:r>
              <a:t>Texas Wesleyan University | Department of Computer Science &amp; Information Technology | CIS-4328 | Professor William Nash, Ph.D.</a:t>
            </a:r>
          </a:p>
        </p:txBody>
      </p:sp>
      <p:sp>
        <p:nvSpPr>
          <p:cNvPr id="8" name="Rounded Rectangle 7"/>
          <p:cNvSpPr/>
          <p:nvPr/>
        </p:nvSpPr>
        <p:spPr>
          <a:xfrm>
            <a:off x="73152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CIS-4328 Core Competencies</a:t>
            </a:r>
          </a:p>
          <a:p>
            <a:pPr>
              <a:spcAft>
                <a:spcPts val="800"/>
              </a:spcAft>
            </a:pPr>
            <a:r>
              <a:rPr b="1" sz="1200">
                <a:solidFill>
                  <a:srgbClr val="1B365D"/>
                </a:solidFill>
              </a:rPr>
              <a:t>• Threat-Informed Defense: </a:t>
            </a:r>
            <a:r>
              <a:rPr sz="1150">
                <a:solidFill>
                  <a:srgbClr val="0F172A"/>
                </a:solidFill>
              </a:rPr>
              <a:t>Proficiency in evaluating cyber threat intelligence, mapping adversary behaviors to MITRE ATT&amp;CK, and identifying vulnerability vectors.</a:t>
            </a:r>
          </a:p>
          <a:p>
            <a:pPr>
              <a:spcAft>
                <a:spcPts val="800"/>
              </a:spcAft>
            </a:pPr>
            <a:r>
              <a:rPr b="1" sz="1200">
                <a:solidFill>
                  <a:srgbClr val="1B365D"/>
                </a:solidFill>
              </a:rPr>
              <a:t>• Applied Engineering &amp; Hardening: </a:t>
            </a:r>
            <a:r>
              <a:rPr sz="1150">
                <a:solidFill>
                  <a:srgbClr val="0F172A"/>
                </a:solidFill>
              </a:rPr>
              <a:t>Deep understanding of cryptographic algorithms, PKI chain of trust, network segmentation, and zero trust architectures.</a:t>
            </a:r>
          </a:p>
          <a:p>
            <a:pPr>
              <a:spcAft>
                <a:spcPts val="800"/>
              </a:spcAft>
            </a:pPr>
            <a:r>
              <a:rPr b="1" sz="1200">
                <a:solidFill>
                  <a:srgbClr val="1B365D"/>
                </a:solidFill>
              </a:rPr>
              <a:t>• Operational Incident Readiness: </a:t>
            </a:r>
            <a:r>
              <a:rPr sz="1150">
                <a:solidFill>
                  <a:srgbClr val="0F172A"/>
                </a:solidFill>
              </a:rPr>
              <a:t>Ability to execute the NIST IR lifecycle, preserve digital evidence, and conduct triage analysis.</a:t>
            </a:r>
          </a:p>
          <a:p>
            <a:pPr>
              <a:spcAft>
                <a:spcPts val="800"/>
              </a:spcAft>
            </a:pPr>
            <a:r>
              <a:rPr b="1" sz="1200">
                <a:solidFill>
                  <a:srgbClr val="1B365D"/>
                </a:solidFill>
              </a:rPr>
              <a:t>• Governance &amp; Strategic Alignment: </a:t>
            </a:r>
            <a:r>
              <a:rPr sz="1150">
                <a:solidFill>
                  <a:srgbClr val="0F172A"/>
                </a:solidFill>
              </a:rPr>
              <a:t>Quantitative risk assessment, regulatory compliance posture, and security policy architecture.</a:t>
            </a:r>
          </a:p>
        </p:txBody>
      </p:sp>
      <p:sp>
        <p:nvSpPr>
          <p:cNvPr id="9" name="Rounded Rectangle 8"/>
          <p:cNvSpPr/>
          <p:nvPr/>
        </p:nvSpPr>
        <p:spPr>
          <a:xfrm>
            <a:off x="6263640" y="1280160"/>
            <a:ext cx="5193792" cy="50292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200"/>
              </a:spcAft>
              <a:defRPr sz="1400" b="1">
                <a:solidFill>
                  <a:srgbClr val="1B365D"/>
                </a:solidFill>
              </a:defRPr>
            </a:pPr>
            <a:r>
              <a:t>Professional Certification Roadmap</a:t>
            </a:r>
          </a:p>
          <a:p>
            <a:pPr>
              <a:spcAft>
                <a:spcPts val="800"/>
              </a:spcAft>
            </a:pPr>
            <a:r>
              <a:rPr b="1" sz="1200">
                <a:solidFill>
                  <a:srgbClr val="1B365D"/>
                </a:solidFill>
              </a:rPr>
              <a:t>• CompTIA Security+ (SY0-701): </a:t>
            </a:r>
            <a:r>
              <a:rPr sz="1150">
                <a:solidFill>
                  <a:srgbClr val="0F172A"/>
                </a:solidFill>
              </a:rPr>
              <a:t>Industry baseline credential verifying foundational technical security skills across all domains.</a:t>
            </a:r>
          </a:p>
          <a:p>
            <a:pPr>
              <a:spcAft>
                <a:spcPts val="800"/>
              </a:spcAft>
            </a:pPr>
            <a:r>
              <a:rPr b="1" sz="1200">
                <a:solidFill>
                  <a:srgbClr val="1B365D"/>
                </a:solidFill>
              </a:rPr>
              <a:t>• CompTIA CySA+ / PenTest+: </a:t>
            </a:r>
            <a:r>
              <a:rPr sz="1150">
                <a:solidFill>
                  <a:srgbClr val="0F172A"/>
                </a:solidFill>
              </a:rPr>
              <a:t>Intermediate credentials focusing on SOC analytical defense or practical ethical hacking and assessment.</a:t>
            </a:r>
          </a:p>
          <a:p>
            <a:pPr>
              <a:spcAft>
                <a:spcPts val="800"/>
              </a:spcAft>
            </a:pPr>
            <a:r>
              <a:rPr b="1" sz="1200">
                <a:solidFill>
                  <a:srgbClr val="1B365D"/>
                </a:solidFill>
              </a:rPr>
              <a:t>• Certified Information Systems Security Professional (CISSP): </a:t>
            </a:r>
            <a:r>
              <a:rPr sz="1150">
                <a:solidFill>
                  <a:srgbClr val="0F172A"/>
                </a:solidFill>
              </a:rPr>
              <a:t>The premier senior management and architecture credential, aligned with our 8 course domains.</a:t>
            </a:r>
          </a:p>
          <a:p>
            <a:pPr>
              <a:spcAft>
                <a:spcPts val="800"/>
              </a:spcAft>
            </a:pPr>
            <a:r>
              <a:rPr b="1" sz="1200">
                <a:solidFill>
                  <a:srgbClr val="1B365D"/>
                </a:solidFill>
              </a:rPr>
              <a:t>• Final Exam &amp; Practical Defense: </a:t>
            </a:r>
            <a:r>
              <a:rPr sz="1150">
                <a:solidFill>
                  <a:srgbClr val="0F172A"/>
                </a:solidFill>
              </a:rPr>
              <a:t>Review your Canvas study guides, master the hands-on analysis rubrics, and prepare for our final comprehensive assessment.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