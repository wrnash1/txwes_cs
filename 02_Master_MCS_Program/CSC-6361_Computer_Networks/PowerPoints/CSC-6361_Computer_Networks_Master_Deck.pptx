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graduate scholars, to CSC-6361: Advanced Computer Networks at Texas Wesleyan University. I am Professor William Nash. In this graduate-level course, we transition from elementary networking concepts to rigorous architectural analysis, mathematical queuing theory, dynamic inter-domain routing protocols, and software-defined data center fabrics. Our focus is both analytical and empirical: dissecting the protocol mechanics that allow the global Internet and modern hyperscale cloud infrastructures to scale robustly. Let's begin our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theoretical opening module in CSC-6361. At the graduate level, we analyze networks through mathematical modeling. Consider Little's Law: L equals lambda times W. When we apply this to an M/M/1 queuing model, link utilization rho equals arrival rate lambda divided by service rate mu. Notice the mathematical consequence in our formula for average delay: W equals 1 over mu minus lambda. When traffic is light, delay is negligible. But as utilization approaches 100 percent, the denominator approaches zero, and packet delay shoots toward infinity! This mathematical reality governs all router queue management. Furthermore, we must distinguish transmission delay—the time required to push bits onto the wire—from propagation delay—the physical travel time of light through fiber optic glass. Understanding these dynamics is essential when designing hyperscale cloud fabrics.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2, we explore interior gateway protocols, specifically Multi-Area OSPF. In a small network, single-area OSPF works well. But in an enterprise with thousands of routers, running Dijkstra's algorithm across the entire network whenever a single interface flaps exhausts router CPU cycles and causes instability. Look at the topology on the right. OSPF solves this through two-level hierarchy. Area 0 is the contiguous backbone. Surrounding areas, like Area 10 for Campus West and Area 20 for Campus East, connect to Area 0 through Area Border Routers (ABRs). When a link flaps inside Area 10, the full SPF recalculation is confined strictly to Area 10! The ABR simply generates an LSA Type 3 Summary LSA into Area 0. By configuring manual route summarization on the ABR, dozens of subnets are advertised as a single aggregate prefix, conserving routing memory across the entire enterprise.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covers the algorithmic engine powering link-state routing: Dijkstra's algorithm. Dijkstra builds a shortest-path tree rooted at the local router. The metric OSPF uses is Cost, inversely proportional to bandwidth: Cost equals reference bandwidth divided by interface bandwidth. Here is an important real-world engineering caveat: Cisco's default reference bandwidth was set decades ago to 100 Megabits per second. Under that default, a 100 Mbps link has a cost of 1. But a 1 Gbps link and a 10 Gbps link also round down to a cost of 1! The router would treat a slow 100 Megabit link as identical to a 10 Gigabit fiber pipe. Therefore, in any modern enterprise or graduate lab, the very first command we issue is 'auto-cost reference-bandwidth 100000' to accurately reflect high-speed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4, we step out of internal enterprise networks and examine the routing protocol that glues the global Internet together: the Border Gateway Protocol, or BGP-4. BGP is not a distance-vector or link-state protocol; it is a Path-Vector protocol. It does not care about ping times or link costs; it cares about policy and business agreements between Autonomous Systems. Look at the BGP decision hierarchy on the right. When multiple paths exist to the same destination prefix, BGP evaluates them in an exact, deterministic order. First, Cisco-proprietary Weight (highest wins, local to router). Second, Local Preference (highest wins, shared across the AS to choose outbound exit points). Third, locally originated routes. Fourth, the shortest AS-Path. Fifth, Origin code (IGP over EGP over Incomplete). Sixth, Multi-Exit Discriminator or MED (suggesting inbound paths to neighbors). Memorizing this decision sequence is fundamental for any senior network architect.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explores BGP traffic engineering in practice. How do we influence which path traffic takes across the Internet? For outbound traffic leaving our network, we manipulate Local Preference—higher local preference wins. For inbound traffic entering our network from external providers, the challenge is harder because upstream providers make their own routing decisions. To discourage incoming traffic on a backup link, we employ AS-Path Prepending: we artificially duplicate our own AS number three or four times. When the rest of the world sees that path, it evaluates it as longer and prefers our primary link. We also explore RPKI—Resource Public Key Infrastructure. Historically, BGP had no authentication; any router could announce any IP block, leading to catastrophic BGP route hijacking. With RPKI cryptographic validation, routers drop unauthorized route announcements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6, we analyze modern hyperscale data center architecture. Look at the diagram on the right. In cloud data centers hosting thousands of virtual machines, traditional spanning tree architectures are dead. If spanning tree blocks half your links, you waste 50% of your multi-million dollar fiber investment! Instead, modern data centers use a 2-tier Spine-Leaf Clos topology. Every leaf switch connects to every spine switch. The physical fabric—the Underlay—is a pure Layer 3 routed network running BGP or OSPF with Equal-Cost Multi-Pathing (ECMP). To allow virtual machines in the same subnet to migrate anywhere in the data center across Layer 3 boundaries, we create an Overlay network using VXLAN. VXLAN encapsulates the VM's Layer 2 Ethernet frame inside a standard Layer 4 UDP packet. Leaf switches act as VXLAN Tunnel Endpoints (VTEPs). To manage these tunnels without flooding, we use Ethernet VPN (EVPN) via Multi-Protocol BGP to distribute MAC and IP reachability like routing updates. This is the architecture powering modern cloud providers like AWS, Google Cloud, and Azure.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explores the transport layer, where theoretical computer science meets practical software engineering. For decades, TCP congestion control relied on loss: send packets faster until one drops, then slash the transmission rate in half. On gigabit fiber links with large buffers, this causes severe bufferbloat. Google introduced BBR, which models bottleneck bandwidth and minimum RTT to maximize throughput without causing queue buildup. Even more revolutionary is QUIC, the transport protocol underpinning HTTP/3. TCP suffers from Head-of-Line blocking: if one packet in a stream drops, the entire connection freezes until it retransmits. QUIC runs on top of UDP and embeds TLS 1.3 encryption directly into the transport header. Multiplexed streams are completely independent, and connection migration allows your smartphone to switch from campus Wi-Fi to cellular data without dropping your video 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8, we study Software-Defined Networking and programmable data planes. Traditional networking bundled the control plane and data plane into proprietary vendor hardware boxes. SDN decoupled them: the forwarding switches become fast, dumb flow-tables, while a centralized software controller calculates routes with a global view of the network. Taking this one step further is P4—Programming Protocol-Independent Packet Processors. Historically, switch ASICs had fixed silicon: if a new protocol came out, you had to wait years for new hardware chips. With P4, engineers write code that compiles directly onto programmable switch chips, allowing custom packet parsing, in-band telemetry, and microsecond-level traffic engineering. Networking has truly become software.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bridges our technical analysis with graduate research methodology. When conducting network research or evaluating architecture for an enterprise, an engineer cannot simply rely on averages. In large-scale systems, the average latency is meaningless; what matters is the P99 or P99.9 tail latency—the slowest requests that degrade user experience. In our course, you have hands-on lab projects in Packet Tracer. For your graduate capstone research, you will evaluate experimental designs using tools like Mininet, ns-3, or live hardware emulators. Focus on statistical rigor: define your hypothesis, isolate your variables, measure baseline performance, and capture packet traces using Wireshark to validate every theoretical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10, we examine the bleeding edge of networking: AI fabrics and Quantum networks. Training modern artificial intelligence models with hundreds of billions of parameters requires clustering tens of thousands of GPUs. These GPUs must synchronize gradients across the network. If the network experiences microsecond latency spikes, thousands of GPUs sit idle, burning millions of dollars in power! To solve this, the industry is transitioning to RoCEv2—RDMA over Converged Ethernet—and the Ultra Ethernet Consortium is redesigning transport protocols specifically for AI. Simultaneously, the threat of quantum computing breaking RSA and ECC has prompted NIST to standardize Post-Quantum Cryptography like ML-KEM and ML-DSA. As graduate engineers, you will be designing the networks that navigate these massive paradigm shifts.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Scholars, this concludes our graduate lecture series in CSC-6361: Advanced Computer Networks. Throughout this semester, we have traversed the networking landscape from the foundational queuing mathematics of Little's Law, through multi-area OSPF and global BGP path vector dynamics, all the way to modern VXLAN data center fabrics and AI hyperscale infrastructure. You have demonstrated exceptional dedication to mastering both the theoretical elegance and the practical complexity of computer networks. As you finalize your semester research projects and lab deliverables, approach your work with scientific rigor, verify every claim with empirical packet traces, and prepare to defend your architectural designs. It has been a privilege guiding you through this material. I look forward to reading your final research papers. Thank you, and best of luck!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109728"/>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457200"/>
          </a:xfrm>
          <a:prstGeom prst="rect">
            <a:avLst/>
          </a:prstGeom>
          <a:noFill/>
        </p:spPr>
        <p:txBody>
          <a:bodyPr wrap="none">
            <a:spAutoFit/>
          </a:bodyPr>
          <a:lstStyle/>
          <a:p>
            <a:pPr>
              <a:defRPr sz="1300" b="1">
                <a:solidFill>
                  <a:srgbClr val="D9A74A"/>
                </a:solidFill>
              </a:defRPr>
            </a:pPr>
            <a:r>
              <a:t>TEXAS WESLEYAN UNIVERSITY · SCHOOL OF BUSINESS ADMINISTRATION</a:t>
            </a:r>
          </a:p>
        </p:txBody>
      </p:sp>
      <p:sp>
        <p:nvSpPr>
          <p:cNvPr id="5" name="TextBox 4"/>
          <p:cNvSpPr txBox="1"/>
          <p:nvPr/>
        </p:nvSpPr>
        <p:spPr>
          <a:xfrm>
            <a:off x="1097280" y="1828800"/>
            <a:ext cx="10058400" cy="1371600"/>
          </a:xfrm>
          <a:prstGeom prst="rect">
            <a:avLst/>
          </a:prstGeom>
          <a:noFill/>
        </p:spPr>
        <p:txBody>
          <a:bodyPr wrap="square">
            <a:spAutoFit/>
          </a:bodyPr>
          <a:lstStyle/>
          <a:p>
            <a:pPr>
              <a:defRPr sz="3600" b="1">
                <a:solidFill>
                  <a:srgbClr val="FFFFFF"/>
                </a:solidFill>
              </a:defRPr>
            </a:pPr>
            <a:r>
              <a:t>CSC-6361: Advanced Computer Networks</a:t>
            </a:r>
          </a:p>
        </p:txBody>
      </p:sp>
      <p:sp>
        <p:nvSpPr>
          <p:cNvPr id="6" name="TextBox 5"/>
          <p:cNvSpPr txBox="1"/>
          <p:nvPr/>
        </p:nvSpPr>
        <p:spPr>
          <a:xfrm>
            <a:off x="1097280" y="3291840"/>
            <a:ext cx="10058400" cy="822960"/>
          </a:xfrm>
          <a:prstGeom prst="rect">
            <a:avLst/>
          </a:prstGeom>
          <a:noFill/>
        </p:spPr>
        <p:txBody>
          <a:bodyPr wrap="square">
            <a:spAutoFit/>
          </a:bodyPr>
          <a:lstStyle/>
          <a:p>
            <a:pPr>
              <a:defRPr sz="1800">
                <a:solidFill>
                  <a:srgbClr val="E2E8F0"/>
                </a:solidFill>
              </a:defRPr>
            </a:pPr>
            <a:r>
              <a:t>Graduate Foundations: Multi-Area Link-State Routing, BGP-4 Path Vector Dynamics, and Data Center Fabrics</a:t>
            </a:r>
          </a:p>
        </p:txBody>
      </p:sp>
      <p:sp>
        <p:nvSpPr>
          <p:cNvPr id="7" name="TextBox 6"/>
          <p:cNvSpPr txBox="1"/>
          <p:nvPr/>
        </p:nvSpPr>
        <p:spPr>
          <a:xfrm>
            <a:off x="1097280" y="4663440"/>
            <a:ext cx="10058400" cy="1371600"/>
          </a:xfrm>
          <a:prstGeom prst="rect">
            <a:avLst/>
          </a:prstGeom>
          <a:noFill/>
        </p:spPr>
        <p:txBody>
          <a:bodyPr wrap="none">
            <a:spAutoFit/>
          </a:bodyPr>
          <a:lstStyle/>
          <a:p>
            <a:pPr>
              <a:defRPr sz="1500" b="1">
                <a:solidFill>
                  <a:srgbClr val="FFFFFF"/>
                </a:solidFill>
              </a:defRPr>
            </a:pPr>
            <a:r>
              <a:t>Instructor: Professor William Nash, Ph.D.</a:t>
            </a:r>
          </a:p>
          <a:p>
            <a:pPr>
              <a:defRPr sz="1200">
                <a:solidFill>
                  <a:srgbClr val="CBD5E1"/>
                </a:solidFill>
              </a:defRPr>
            </a:pPr>
            <a:r>
              <a:t>Department of Computer Science &amp; Information Technology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01: GRADUATE FOUNDATIONS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Network Performance Modeling &amp; Queuing Theory</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Queueing Systems &amp; Little's Law</a:t>
            </a:r>
          </a:p>
          <a:p>
            <a:pPr>
              <a:spcAft>
                <a:spcPts val="800"/>
              </a:spcAft>
            </a:pPr>
            <a:r>
              <a:rPr b="1" sz="1200">
                <a:solidFill>
                  <a:srgbClr val="1B365D"/>
                </a:solidFill>
              </a:rPr>
              <a:t>• Little's Law Fundamental Formula: </a:t>
            </a:r>
            <a:r>
              <a:rPr sz="1150">
                <a:solidFill>
                  <a:srgbClr val="0F172A"/>
                </a:solidFill>
              </a:rPr>
              <a:t>L = λW, where L is the average number of packets in the system, λ is the average packet arrival rate, and W is the average time a packet spends in the system.</a:t>
            </a:r>
          </a:p>
          <a:p>
            <a:pPr>
              <a:spcAft>
                <a:spcPts val="800"/>
              </a:spcAft>
            </a:pPr>
            <a:r>
              <a:rPr b="1" sz="1200">
                <a:solidFill>
                  <a:srgbClr val="1B365D"/>
                </a:solidFill>
              </a:rPr>
              <a:t>• M/M/1 Queueing Model: </a:t>
            </a:r>
            <a:r>
              <a:rPr sz="1150">
                <a:solidFill>
                  <a:srgbClr val="0F172A"/>
                </a:solidFill>
              </a:rPr>
              <a:t>Poisson packet arrivals (Markovian), exponential service times, single transmission channel. Utilization factor ρ = λ / μ.</a:t>
            </a:r>
          </a:p>
          <a:p>
            <a:pPr>
              <a:spcAft>
                <a:spcPts val="800"/>
              </a:spcAft>
            </a:pPr>
            <a:r>
              <a:rPr b="1" sz="1200">
                <a:solidFill>
                  <a:srgbClr val="1B365D"/>
                </a:solidFill>
              </a:rPr>
              <a:t>• Average System Delay (W): </a:t>
            </a:r>
            <a:r>
              <a:rPr sz="1150">
                <a:solidFill>
                  <a:srgbClr val="0F172A"/>
                </a:solidFill>
              </a:rPr>
              <a:t>W = 1 / (μ - λ). As link utilization ρ approaches 1.0 (100%), queue buffering and latency escalate asymptotically toward infinity.</a:t>
            </a:r>
          </a:p>
          <a:p>
            <a:pPr>
              <a:spcAft>
                <a:spcPts val="800"/>
              </a:spcAft>
            </a:pPr>
            <a:r>
              <a:rPr b="1" sz="1200">
                <a:solidFill>
                  <a:srgbClr val="1B365D"/>
                </a:solidFill>
              </a:rPr>
              <a:t>• Packet Loss &amp; Buffer Sizing: </a:t>
            </a:r>
            <a:r>
              <a:rPr sz="1150">
                <a:solidFill>
                  <a:srgbClr val="0F172A"/>
                </a:solidFill>
              </a:rPr>
              <a:t>Buffer sizing rule-of-thumb: B = RTT x C (Bandwidth-Delay Product). Modern research demonstrates B = (RTT x C) / sqrt(N) for N desynchronized TCP flows.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Latency Components &amp; Measurement</a:t>
            </a:r>
          </a:p>
          <a:p>
            <a:pPr>
              <a:spcAft>
                <a:spcPts val="800"/>
              </a:spcAft>
            </a:pPr>
            <a:r>
              <a:rPr b="1" sz="1200">
                <a:solidFill>
                  <a:srgbClr val="1B365D"/>
                </a:solidFill>
              </a:rPr>
              <a:t>• End-to-End Latency Decomposition: </a:t>
            </a:r>
            <a:r>
              <a:rPr sz="1150">
                <a:solidFill>
                  <a:srgbClr val="0F172A"/>
                </a:solidFill>
              </a:rPr>
              <a:t>D_total = D_proc (processing) + D_queue (queuing) + D_trans (transmission = L/R) + D_prop (propagation = d/s).</a:t>
            </a:r>
          </a:p>
          <a:p>
            <a:pPr>
              <a:spcAft>
                <a:spcPts val="800"/>
              </a:spcAft>
            </a:pPr>
            <a:r>
              <a:rPr b="1" sz="1200">
                <a:solidFill>
                  <a:srgbClr val="1B365D"/>
                </a:solidFill>
              </a:rPr>
              <a:t>• Transmission vs Propagation: </a:t>
            </a:r>
            <a:r>
              <a:rPr sz="1150">
                <a:solidFill>
                  <a:srgbClr val="0F172A"/>
                </a:solidFill>
              </a:rPr>
              <a:t>Transmission delay depends strictly on packet size and link bandwidth. Propagation delay depends strictly on physical distance and signal speed (approx. 2 x 10^8 m/s in fiber).</a:t>
            </a:r>
          </a:p>
          <a:p>
            <a:pPr>
              <a:spcAft>
                <a:spcPts val="800"/>
              </a:spcAft>
            </a:pPr>
            <a:r>
              <a:rPr b="1" sz="1200">
                <a:solidFill>
                  <a:srgbClr val="1B365D"/>
                </a:solidFill>
              </a:rPr>
              <a:t>• Bufferbloat &amp; Active Queue Management: </a:t>
            </a:r>
            <a:r>
              <a:rPr sz="1150">
                <a:solidFill>
                  <a:srgbClr val="0F172A"/>
                </a:solidFill>
              </a:rPr>
              <a:t>Excessive router buffering induces high latency without preventing packet loss. Solved via AQM algorithms like CoDel and PIE.</a:t>
            </a:r>
          </a:p>
          <a:p>
            <a:pPr>
              <a:spcAft>
                <a:spcPts val="800"/>
              </a:spcAft>
            </a:pPr>
            <a:r>
              <a:rPr b="1" sz="1200">
                <a:solidFill>
                  <a:srgbClr val="1B365D"/>
                </a:solidFill>
              </a:rPr>
              <a:t>• Jitter &amp; Statistical Multiplexing: </a:t>
            </a:r>
            <a:r>
              <a:rPr sz="1150">
                <a:solidFill>
                  <a:srgbClr val="0F172A"/>
                </a:solidFill>
              </a:rPr>
              <a:t>Variance in packet arrival times affecting real-time streaming and high-frequency financial trading networks.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02: LINK-STATE ROUTING</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Multi-Area OSPFv2/OSPFv3 Interior Routing</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Hierarchical Area Segmentation: </a:t>
            </a:r>
            <a:r>
              <a:rPr sz="1150">
                <a:solidFill>
                  <a:srgbClr val="0F172A"/>
                </a:solidFill>
              </a:rPr>
              <a:t>All non-backbone areas (Area 1, Area 2...) must connect directly to Area 0 (Backbone Area) to prevent inter-area routing loops.</a:t>
            </a:r>
          </a:p>
          <a:p>
            <a:pPr>
              <a:spcAft>
                <a:spcPts val="1000"/>
              </a:spcAft>
            </a:pPr>
            <a:r>
              <a:rPr b="1" sz="1250">
                <a:solidFill>
                  <a:srgbClr val="1B365D"/>
                </a:solidFill>
              </a:rPr>
              <a:t>• Link State Database (LSDB): </a:t>
            </a:r>
            <a:r>
              <a:rPr sz="1150">
                <a:solidFill>
                  <a:srgbClr val="0F172A"/>
                </a:solidFill>
              </a:rPr>
              <a:t>Every router in an area maintains an identical map of the network topology, calculated independently via Dijkstra's Shortest Path First (SPF) algorithm.</a:t>
            </a:r>
          </a:p>
          <a:p>
            <a:pPr>
              <a:spcAft>
                <a:spcPts val="1000"/>
              </a:spcAft>
            </a:pPr>
            <a:r>
              <a:rPr b="1" sz="1250">
                <a:solidFill>
                  <a:srgbClr val="1B365D"/>
                </a:solidFill>
              </a:rPr>
              <a:t>• Router Classifications: </a:t>
            </a:r>
            <a:r>
              <a:rPr sz="1150">
                <a:solidFill>
                  <a:srgbClr val="0F172A"/>
                </a:solidFill>
              </a:rPr>
              <a:t>Internal Routers, Area Border Routers (ABRs - link Area 0 to standard areas), Autonomous System Boundary Routers (ASBRs - redistribute external routes).</a:t>
            </a:r>
          </a:p>
          <a:p>
            <a:pPr>
              <a:spcAft>
                <a:spcPts val="1000"/>
              </a:spcAft>
            </a:pPr>
            <a:r>
              <a:rPr b="1" sz="1250">
                <a:solidFill>
                  <a:srgbClr val="1B365D"/>
                </a:solidFill>
              </a:rPr>
              <a:t>• LSA Types &amp; Information Flooding: </a:t>
            </a:r>
            <a:r>
              <a:rPr sz="1150">
                <a:solidFill>
                  <a:srgbClr val="0F172A"/>
                </a:solidFill>
              </a:rPr>
              <a:t>LSA 1 (Router LSA), LSA 2 (Network LSA via DR), LSA 3 (Summary LSA via ABR), LSA 4 (ASBR Summary), LSA 5 (AS External LSA).</a:t>
            </a:r>
          </a:p>
          <a:p>
            <a:pPr>
              <a:spcAft>
                <a:spcPts val="1000"/>
              </a:spcAft>
            </a:pPr>
            <a:r>
              <a:rPr b="1" sz="1250">
                <a:solidFill>
                  <a:srgbClr val="1B365D"/>
                </a:solidFill>
              </a:rPr>
              <a:t>• Inter-Area Route Summarization: </a:t>
            </a:r>
            <a:r>
              <a:rPr sz="1150">
                <a:solidFill>
                  <a:srgbClr val="0F172A"/>
                </a:solidFill>
              </a:rPr>
              <a:t>Configured on ABRs to condense dozens of internal subnets into a single prefix, shrinking routing table sizes and isolating SPF recalculations.</a:t>
            </a:r>
          </a:p>
        </p:txBody>
      </p:sp>
      <p:pic>
        <p:nvPicPr>
          <p:cNvPr id="9" name="Picture 8" descr="enterprise_campus_routing.png"/>
          <p:cNvPicPr>
            <a:picLocks noChangeAspect="1"/>
          </p:cNvPicPr>
          <p:nvPr/>
        </p:nvPicPr>
        <p:blipFill>
          <a:blip r:embed="rId2"/>
          <a:stretch>
            <a:fillRect/>
          </a:stretch>
        </p:blipFill>
        <p:spPr>
          <a:xfrm>
            <a:off x="6263640" y="1280160"/>
            <a:ext cx="5193792" cy="2836474"/>
          </a:xfrm>
          <a:prstGeom prst="rect">
            <a:avLst/>
          </a:prstGeom>
          <a:ln w="19050">
            <a:solidFill>
              <a:srgbClr val="D9A74A"/>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03: ALGORITHMIC ROUTING</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Dijkstra's SPF Algorithm &amp; Metric Mechanics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Dijkstra's Shortest Path First (SPF)</a:t>
            </a:r>
          </a:p>
          <a:p>
            <a:pPr>
              <a:spcAft>
                <a:spcPts val="800"/>
              </a:spcAft>
            </a:pPr>
            <a:r>
              <a:rPr b="1" sz="1200">
                <a:solidFill>
                  <a:srgbClr val="1B365D"/>
                </a:solidFill>
              </a:rPr>
              <a:t>• Graph Theoretical Representation: </a:t>
            </a:r>
            <a:r>
              <a:rPr sz="1150">
                <a:solidFill>
                  <a:srgbClr val="0F172A"/>
                </a:solidFill>
              </a:rPr>
              <a:t>Network modeled as a directed graph G = (V, E), where V represents routers/switches and E represents directional links with positive weights.</a:t>
            </a:r>
          </a:p>
          <a:p>
            <a:pPr>
              <a:spcAft>
                <a:spcPts val="800"/>
              </a:spcAft>
            </a:pPr>
            <a:r>
              <a:rPr b="1" sz="1200">
                <a:solidFill>
                  <a:srgbClr val="1B365D"/>
                </a:solidFill>
              </a:rPr>
              <a:t>• Computational Complexity: </a:t>
            </a:r>
            <a:r>
              <a:rPr sz="1150">
                <a:solidFill>
                  <a:srgbClr val="0F172A"/>
                </a:solidFill>
              </a:rPr>
              <a:t>Standard Dijkstra implementation yields O(|V|^2) or O(|E| + |V| log |V|) with a Fibonacci min-heap priority queue.</a:t>
            </a:r>
          </a:p>
          <a:p>
            <a:pPr>
              <a:spcAft>
                <a:spcPts val="800"/>
              </a:spcAft>
            </a:pPr>
            <a:r>
              <a:rPr b="1" sz="1200">
                <a:solidFill>
                  <a:srgbClr val="1B365D"/>
                </a:solidFill>
              </a:rPr>
              <a:t>• SPF Convergence Lifecycle: </a:t>
            </a:r>
            <a:r>
              <a:rPr sz="1150">
                <a:solidFill>
                  <a:srgbClr val="0F172A"/>
                </a:solidFill>
              </a:rPr>
              <a:t>1. Topology changes -&gt; 2. Flooding of LSA packet -&gt; 3. LSDB updated -&gt; 4. Dijkstra executes -&gt; 5. RIB (Routing Table) updated -&gt; 6. Hardware FIB reprogrammed.</a:t>
            </a:r>
          </a:p>
          <a:p>
            <a:pPr>
              <a:spcAft>
                <a:spcPts val="800"/>
              </a:spcAft>
            </a:pPr>
            <a:r>
              <a:rPr b="1" sz="1200">
                <a:solidFill>
                  <a:srgbClr val="1B365D"/>
                </a:solidFill>
              </a:rPr>
              <a:t>• Partial Route Calculation (PRC): </a:t>
            </a:r>
            <a:r>
              <a:rPr sz="1150">
                <a:solidFill>
                  <a:srgbClr val="0F172A"/>
                </a:solidFill>
              </a:rPr>
              <a:t>In modern implementations (OSPF/IS-IS), prefix changes trigger fast PRC without executing a full node-tree SPF recalculation.</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OSPF Metric Engineering &amp; Tuning</a:t>
            </a:r>
          </a:p>
          <a:p>
            <a:pPr>
              <a:spcAft>
                <a:spcPts val="800"/>
              </a:spcAft>
            </a:pPr>
            <a:r>
              <a:rPr b="1" sz="1200">
                <a:solidFill>
                  <a:srgbClr val="1B365D"/>
                </a:solidFill>
              </a:rPr>
              <a:t>• Reference Bandwidth Formula: </a:t>
            </a:r>
            <a:r>
              <a:rPr sz="1150">
                <a:solidFill>
                  <a:srgbClr val="0F172A"/>
                </a:solidFill>
              </a:rPr>
              <a:t>Cost = Reference Bandwidth / Interface Bandwidth (bps). Default reference bandwidth in legacy Cisco IOS is 10^8 (100 Mbps).</a:t>
            </a:r>
          </a:p>
          <a:p>
            <a:pPr>
              <a:spcAft>
                <a:spcPts val="800"/>
              </a:spcAft>
            </a:pPr>
            <a:r>
              <a:rPr b="1" sz="1200">
                <a:solidFill>
                  <a:srgbClr val="1B365D"/>
                </a:solidFill>
              </a:rPr>
              <a:t>• The 100 Mbps Metric Anomaly: </a:t>
            </a:r>
            <a:r>
              <a:rPr sz="1150">
                <a:solidFill>
                  <a:srgbClr val="0F172A"/>
                </a:solidFill>
              </a:rPr>
              <a:t>At default 100 Mbps reference bandwidth, FastEthernet (100M), GigabitEthernet (1G), and 10-GigabitEthernet (10G) all receive cost = 1!</a:t>
            </a:r>
          </a:p>
          <a:p>
            <a:pPr>
              <a:spcAft>
                <a:spcPts val="800"/>
              </a:spcAft>
            </a:pPr>
            <a:r>
              <a:rPr b="1" sz="1200">
                <a:solidFill>
                  <a:srgbClr val="1B365D"/>
                </a:solidFill>
              </a:rPr>
              <a:t>• Corrective Configuration: </a:t>
            </a:r>
            <a:r>
              <a:rPr sz="1150">
                <a:solidFill>
                  <a:srgbClr val="0F172A"/>
                </a:solidFill>
              </a:rPr>
              <a:t>Must configure 'auto-cost reference-bandwidth 100000' (or 1000000) across all routers to differentiate gigabit and 100G fiber links.</a:t>
            </a:r>
          </a:p>
          <a:p>
            <a:pPr>
              <a:spcAft>
                <a:spcPts val="800"/>
              </a:spcAft>
            </a:pPr>
            <a:r>
              <a:rPr b="1" sz="1200">
                <a:solidFill>
                  <a:srgbClr val="1B365D"/>
                </a:solidFill>
              </a:rPr>
              <a:t>• Interface Cost Tuning: </a:t>
            </a:r>
            <a:r>
              <a:rPr sz="1150">
                <a:solidFill>
                  <a:srgbClr val="0F172A"/>
                </a:solidFill>
              </a:rPr>
              <a:t>Directly altering cost via 'ip ospf cost &lt;value&gt;' to engineer asymmetric traffic flows and backup link utilization.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04: BGP FUNDAMENTALS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Inter-Domain Routing: BGP-4 Path Selection</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Path-Vector Paradigm: </a:t>
            </a:r>
            <a:r>
              <a:rPr sz="1150">
                <a:solidFill>
                  <a:srgbClr val="0F172A"/>
                </a:solidFill>
              </a:rPr>
              <a:t>BGP does not calculate link metrics; it exchanges Autonomous System paths (AS-Path), preventing routing loops across the global Internet.</a:t>
            </a:r>
          </a:p>
          <a:p>
            <a:pPr>
              <a:spcAft>
                <a:spcPts val="1000"/>
              </a:spcAft>
            </a:pPr>
            <a:r>
              <a:rPr b="1" sz="1250">
                <a:solidFill>
                  <a:srgbClr val="1B365D"/>
                </a:solidFill>
              </a:rPr>
              <a:t>• Autonomous System (AS) Numbers: </a:t>
            </a:r>
            <a:r>
              <a:rPr sz="1150">
                <a:solidFill>
                  <a:srgbClr val="0F172A"/>
                </a:solidFill>
              </a:rPr>
              <a:t>2-byte legacy (1-65535) and 4-byte modern ASNs (RFC 4893). Public ASNs allocated by IANA/RIRs; Private ASNs (64512-65534).</a:t>
            </a:r>
          </a:p>
          <a:p>
            <a:pPr>
              <a:spcAft>
                <a:spcPts val="1000"/>
              </a:spcAft>
            </a:pPr>
            <a:r>
              <a:rPr b="1" sz="1250">
                <a:solidFill>
                  <a:srgbClr val="1B365D"/>
                </a:solidFill>
              </a:rPr>
              <a:t>• iBGP vs eBGP Mechanics: </a:t>
            </a:r>
            <a:r>
              <a:rPr sz="1150">
                <a:solidFill>
                  <a:srgbClr val="0F172A"/>
                </a:solidFill>
              </a:rPr>
              <a:t>eBGP runs between different ASNs (TTL=1, updates AS-Path). iBGP runs within the same AS (requires full mesh or Route Reflectors; does not update AS-Path).</a:t>
            </a:r>
          </a:p>
          <a:p>
            <a:pPr>
              <a:spcAft>
                <a:spcPts val="1000"/>
              </a:spcAft>
            </a:pPr>
            <a:r>
              <a:rPr b="1" sz="1250">
                <a:solidFill>
                  <a:srgbClr val="1B365D"/>
                </a:solidFill>
              </a:rPr>
              <a:t>• Deterministic Decision Algorithm: </a:t>
            </a:r>
            <a:r>
              <a:rPr sz="1150">
                <a:solidFill>
                  <a:srgbClr val="0F172A"/>
                </a:solidFill>
              </a:rPr>
              <a:t>Evaluates attributes in strict order: Weight (Cisco) -&gt; Local Preference -&gt; Originate -&gt; AS-Path Length -&gt; Origin -&gt; MED -&gt; eBGP over iBGP -&gt; IGP Metric -&gt; Router ID.</a:t>
            </a:r>
          </a:p>
          <a:p>
            <a:pPr>
              <a:spcAft>
                <a:spcPts val="1000"/>
              </a:spcAft>
            </a:pPr>
            <a:r>
              <a:rPr b="1" sz="1250">
                <a:solidFill>
                  <a:srgbClr val="1B365D"/>
                </a:solidFill>
              </a:rPr>
              <a:t>• Policy-Driven Routing Engine: </a:t>
            </a:r>
            <a:r>
              <a:rPr sz="1150">
                <a:solidFill>
                  <a:srgbClr val="0F172A"/>
                </a:solidFill>
              </a:rPr>
              <a:t>Enables network operators to enforce business contracts, transit agreements, and peering policies over simple shortest-distance metrics.</a:t>
            </a:r>
          </a:p>
        </p:txBody>
      </p:sp>
      <p:pic>
        <p:nvPicPr>
          <p:cNvPr id="9" name="Picture 8" descr="bgp_path_selection_attributes.png"/>
          <p:cNvPicPr>
            <a:picLocks noChangeAspect="1"/>
          </p:cNvPicPr>
          <p:nvPr/>
        </p:nvPicPr>
        <p:blipFill>
          <a:blip r:embed="rId2"/>
          <a:stretch>
            <a:fillRect/>
          </a:stretch>
        </p:blipFill>
        <p:spPr>
          <a:xfrm>
            <a:off x="6263640" y="1280160"/>
            <a:ext cx="5193792" cy="2811319"/>
          </a:xfrm>
          <a:prstGeom prst="rect">
            <a:avLst/>
          </a:prstGeom>
          <a:ln w="19050">
            <a:solidFill>
              <a:srgbClr val="D9A74A"/>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05: BGP ENGINEERING</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BGP Policy Engineering &amp; Route Manipulation</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Inbound &amp; Outbound Traffic Engineering</a:t>
            </a:r>
          </a:p>
          <a:p>
            <a:pPr>
              <a:spcAft>
                <a:spcPts val="800"/>
              </a:spcAft>
            </a:pPr>
            <a:r>
              <a:rPr b="1" sz="1200">
                <a:solidFill>
                  <a:srgbClr val="1B365D"/>
                </a:solidFill>
              </a:rPr>
              <a:t>• Controlling Outbound Traffic: </a:t>
            </a:r>
            <a:r>
              <a:rPr sz="1150">
                <a:solidFill>
                  <a:srgbClr val="0F172A"/>
                </a:solidFill>
              </a:rPr>
              <a:t>Manipulate Local Preference (default 100). Higher values dictate which internal edge router carries enterprise traffic out to the Internet.</a:t>
            </a:r>
          </a:p>
          <a:p>
            <a:pPr>
              <a:spcAft>
                <a:spcPts val="800"/>
              </a:spcAft>
            </a:pPr>
            <a:r>
              <a:rPr b="1" sz="1200">
                <a:solidFill>
                  <a:srgbClr val="1B365D"/>
                </a:solidFill>
              </a:rPr>
              <a:t>• Controlling Inbound Traffic: </a:t>
            </a:r>
            <a:r>
              <a:rPr sz="1150">
                <a:solidFill>
                  <a:srgbClr val="0F172A"/>
                </a:solidFill>
              </a:rPr>
              <a:t>AS-Path Prepending: artificially appending our own ASN multiple times (e.g., '65001 65001 65001') to make a backup transit link appear longer and less attractive to external peers.</a:t>
            </a:r>
          </a:p>
          <a:p>
            <a:pPr>
              <a:spcAft>
                <a:spcPts val="800"/>
              </a:spcAft>
            </a:pPr>
            <a:r>
              <a:rPr b="1" sz="1200">
                <a:solidFill>
                  <a:srgbClr val="1B365D"/>
                </a:solidFill>
              </a:rPr>
              <a:t>• Multi-Exit Discriminator (MED): </a:t>
            </a:r>
            <a:r>
              <a:rPr sz="1150">
                <a:solidFill>
                  <a:srgbClr val="0F172A"/>
                </a:solidFill>
              </a:rPr>
              <a:t>Non-transitive metric passed to an external neighbor to express a preference between multiple ingress points into our AS (lower MED wins).</a:t>
            </a:r>
          </a:p>
          <a:p>
            <a:pPr>
              <a:spcAft>
                <a:spcPts val="800"/>
              </a:spcAft>
            </a:pPr>
            <a:r>
              <a:rPr b="1" sz="1200">
                <a:solidFill>
                  <a:srgbClr val="1B365D"/>
                </a:solidFill>
              </a:rPr>
              <a:t>• BGP Communities: </a:t>
            </a:r>
            <a:r>
              <a:rPr sz="1150">
                <a:solidFill>
                  <a:srgbClr val="0F172A"/>
                </a:solidFill>
              </a:rPr>
              <a:t>Numerical tags (e.g., ASN:Value) attached to prefixes to trigger upstream ISP traffic engineering actions (blackholing, local-pref manipulation).</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Route Filtering &amp; Peering Architectures</a:t>
            </a:r>
          </a:p>
          <a:p>
            <a:pPr>
              <a:spcAft>
                <a:spcPts val="800"/>
              </a:spcAft>
            </a:pPr>
            <a:r>
              <a:rPr b="1" sz="1200">
                <a:solidFill>
                  <a:srgbClr val="1B365D"/>
                </a:solidFill>
              </a:rPr>
              <a:t>• Prefix Lists &amp; Route Maps: </a:t>
            </a:r>
            <a:r>
              <a:rPr sz="1150">
                <a:solidFill>
                  <a:srgbClr val="0F172A"/>
                </a:solidFill>
              </a:rPr>
              <a:t>Granular filtering of routes received from or advertised to peers, preventing catastrophic route leak accidents.</a:t>
            </a:r>
          </a:p>
          <a:p>
            <a:pPr>
              <a:spcAft>
                <a:spcPts val="800"/>
              </a:spcAft>
            </a:pPr>
            <a:r>
              <a:rPr b="1" sz="1200">
                <a:solidFill>
                  <a:srgbClr val="1B365D"/>
                </a:solidFill>
              </a:rPr>
              <a:t>• RPKI Route Origin Validation: </a:t>
            </a:r>
            <a:r>
              <a:rPr sz="1150">
                <a:solidFill>
                  <a:srgbClr val="0F172A"/>
                </a:solidFill>
              </a:rPr>
              <a:t>Resource Public Key Infrastructure uses cryptographic signatures (ROAs) to validate that an advertising ASN is authorized to originate a prefix, defeating BGP hijacking.</a:t>
            </a:r>
          </a:p>
          <a:p>
            <a:pPr>
              <a:spcAft>
                <a:spcPts val="800"/>
              </a:spcAft>
            </a:pPr>
            <a:r>
              <a:rPr b="1" sz="1200">
                <a:solidFill>
                  <a:srgbClr val="1B365D"/>
                </a:solidFill>
              </a:rPr>
              <a:t>• Internet Exchange Points (IXPs): </a:t>
            </a:r>
            <a:r>
              <a:rPr sz="1150">
                <a:solidFill>
                  <a:srgbClr val="0F172A"/>
                </a:solidFill>
              </a:rPr>
              <a:t>Physical switching fabrics where hundreds of ISPs, CDNs (Netflix, Google, Cloudflare), and enterprises peer directly to exchange traffic settlement-free.</a:t>
            </a:r>
          </a:p>
          <a:p>
            <a:pPr>
              <a:spcAft>
                <a:spcPts val="800"/>
              </a:spcAft>
            </a:pPr>
            <a:r>
              <a:rPr b="1" sz="1200">
                <a:solidFill>
                  <a:srgbClr val="1B365D"/>
                </a:solidFill>
              </a:rPr>
              <a:t>• Transit vs Peering Economics: </a:t>
            </a:r>
            <a:r>
              <a:rPr sz="1150">
                <a:solidFill>
                  <a:srgbClr val="0F172A"/>
                </a:solidFill>
              </a:rPr>
              <a:t>Paid IP Transit (metered Gbps) vs Settlement-Free Peering (mutual exchange of customer routes at IXP switches).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06: DATA CENTER FABRICS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Data Center Fabrics &amp; VXLAN / EVPN Overlays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Spine-and-Leaf Architecture: </a:t>
            </a:r>
            <a:r>
              <a:rPr sz="1150">
                <a:solidFill>
                  <a:srgbClr val="0F172A"/>
                </a:solidFill>
              </a:rPr>
              <a:t>Replaces legacy spanning-tree access-aggregation-core tiers; every leaf connects to every spine, ensuring consistent 1-hop latency and ECMP load balancing.</a:t>
            </a:r>
          </a:p>
          <a:p>
            <a:pPr>
              <a:spcAft>
                <a:spcPts val="1000"/>
              </a:spcAft>
            </a:pPr>
            <a:r>
              <a:rPr b="1" sz="1250">
                <a:solidFill>
                  <a:srgbClr val="1B365D"/>
                </a:solidFill>
              </a:rPr>
              <a:t>• The Underlay vs. Overlay Paradigm: </a:t>
            </a:r>
            <a:r>
              <a:rPr sz="1150">
                <a:solidFill>
                  <a:srgbClr val="0F172A"/>
                </a:solidFill>
              </a:rPr>
              <a:t>Underlay Network: robust, high-speed Layer 3 routed fabric (BGP/OSPF). Overlay Network: virtualized Layer 2/3 topologies running over the underlay.</a:t>
            </a:r>
          </a:p>
          <a:p>
            <a:pPr>
              <a:spcAft>
                <a:spcPts val="1000"/>
              </a:spcAft>
            </a:pPr>
            <a:r>
              <a:rPr b="1" sz="1250">
                <a:solidFill>
                  <a:srgbClr val="1B365D"/>
                </a:solidFill>
              </a:rPr>
              <a:t>• VXLAN Protocol (RFC 7348): </a:t>
            </a:r>
            <a:r>
              <a:rPr sz="1150">
                <a:solidFill>
                  <a:srgbClr val="0F172A"/>
                </a:solidFill>
              </a:rPr>
              <a:t>Encapsulates Layer 2 Ethernet frames inside Layer 4 UDP datagrams (port 4789), expanding VLAN scale from 4,096 to 16.7 million Virtual Network Identifiers (VNIs).</a:t>
            </a:r>
          </a:p>
          <a:p>
            <a:pPr>
              <a:spcAft>
                <a:spcPts val="1000"/>
              </a:spcAft>
            </a:pPr>
            <a:r>
              <a:rPr b="1" sz="1250">
                <a:solidFill>
                  <a:srgbClr val="1B365D"/>
                </a:solidFill>
              </a:rPr>
              <a:t>• VTEP Tunnel Endpoints: </a:t>
            </a:r>
            <a:r>
              <a:rPr sz="1150">
                <a:solidFill>
                  <a:srgbClr val="0F172A"/>
                </a:solidFill>
              </a:rPr>
              <a:t>VXLAN Tunnel Endpoints on leaf switches encapsulate and de-encapsulate virtual machine traffic transparently.</a:t>
            </a:r>
          </a:p>
          <a:p>
            <a:pPr>
              <a:spcAft>
                <a:spcPts val="1000"/>
              </a:spcAft>
            </a:pPr>
            <a:r>
              <a:rPr b="1" sz="1250">
                <a:solidFill>
                  <a:srgbClr val="1B365D"/>
                </a:solidFill>
              </a:rPr>
              <a:t>• BGP EVPN Control Plane: </a:t>
            </a:r>
            <a:r>
              <a:rPr sz="1150">
                <a:solidFill>
                  <a:srgbClr val="0F172A"/>
                </a:solidFill>
              </a:rPr>
              <a:t>Replaces inefficient flood-and-learn multicast with MP-BGP (Type 2 MAC/IP advertisement routes, Type 5 IP prefix routes) for scalable host reachability.</a:t>
            </a:r>
          </a:p>
        </p:txBody>
      </p:sp>
      <p:pic>
        <p:nvPicPr>
          <p:cNvPr id="9" name="Picture 8" descr="vxlan_evpn_overlay.png"/>
          <p:cNvPicPr>
            <a:picLocks noChangeAspect="1"/>
          </p:cNvPicPr>
          <p:nvPr/>
        </p:nvPicPr>
        <p:blipFill>
          <a:blip r:embed="rId2"/>
          <a:stretch>
            <a:fillRect/>
          </a:stretch>
        </p:blipFill>
        <p:spPr>
          <a:xfrm>
            <a:off x="6263640" y="1280160"/>
            <a:ext cx="5193792" cy="2811319"/>
          </a:xfrm>
          <a:prstGeom prst="rect">
            <a:avLst/>
          </a:prstGeom>
          <a:ln w="19050">
            <a:solidFill>
              <a:srgbClr val="D9A74A"/>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07: TRANSPORT PROTOCOLS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Transport Layer Evolution: TCP Dynamics to QUIC</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TCP Congestion Control Evolution</a:t>
            </a:r>
          </a:p>
          <a:p>
            <a:pPr>
              <a:spcAft>
                <a:spcPts val="800"/>
              </a:spcAft>
            </a:pPr>
            <a:r>
              <a:rPr b="1" sz="1200">
                <a:solidFill>
                  <a:srgbClr val="1B365D"/>
                </a:solidFill>
              </a:rPr>
              <a:t>• Loss-Based Congestion (Tahoe/Reno): </a:t>
            </a:r>
            <a:r>
              <a:rPr sz="1150">
                <a:solidFill>
                  <a:srgbClr val="0F172A"/>
                </a:solidFill>
              </a:rPr>
              <a:t>AIMD (Additive Increase, Multiplicative Decrease). Interprets packet loss as congestion, halving cwnd (congestion window). Induces bufferbloat on high-speed links.</a:t>
            </a:r>
          </a:p>
          <a:p>
            <a:pPr>
              <a:spcAft>
                <a:spcPts val="800"/>
              </a:spcAft>
            </a:pPr>
            <a:r>
              <a:rPr b="1" sz="1200">
                <a:solidFill>
                  <a:srgbClr val="1B365D"/>
                </a:solidFill>
              </a:rPr>
              <a:t>• CUBIC Congestion Control: </a:t>
            </a:r>
            <a:r>
              <a:rPr sz="1150">
                <a:solidFill>
                  <a:srgbClr val="0F172A"/>
                </a:solidFill>
              </a:rPr>
              <a:t>Standard Linux TCP algorithm. Uses a cubic window growth function independent of RTT, scaling aggressively on long-fat networks (high BDP).</a:t>
            </a:r>
          </a:p>
          <a:p>
            <a:pPr>
              <a:spcAft>
                <a:spcPts val="800"/>
              </a:spcAft>
            </a:pPr>
            <a:r>
              <a:rPr b="1" sz="1200">
                <a:solidFill>
                  <a:srgbClr val="1B365D"/>
                </a:solidFill>
              </a:rPr>
              <a:t>• BBR (Bottleneck Bandwidth and RTT): </a:t>
            </a:r>
            <a:r>
              <a:rPr sz="1150">
                <a:solidFill>
                  <a:srgbClr val="0F172A"/>
                </a:solidFill>
              </a:rPr>
              <a:t>Google's model-based algorithm. Measures delivery rate and minimum RTT directly; does not treat packet loss as congestion, maximizing throughput without filling buffers.</a:t>
            </a:r>
          </a:p>
          <a:p>
            <a:pPr>
              <a:spcAft>
                <a:spcPts val="800"/>
              </a:spcAft>
            </a:pPr>
            <a:r>
              <a:rPr b="1" sz="1200">
                <a:solidFill>
                  <a:srgbClr val="1B365D"/>
                </a:solidFill>
              </a:rPr>
              <a:t>• Explicit Congestion Notification (ECN): </a:t>
            </a:r>
            <a:r>
              <a:rPr sz="1150">
                <a:solidFill>
                  <a:srgbClr val="0F172A"/>
                </a:solidFill>
              </a:rPr>
              <a:t>Routers mark CE bits in IP header during incipient queue buildup; receiver echoes ECE to sender to reduce rate before drops occur.</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The QUIC Protocol &amp; HTTP/3</a:t>
            </a:r>
          </a:p>
          <a:p>
            <a:pPr>
              <a:spcAft>
                <a:spcPts val="800"/>
              </a:spcAft>
            </a:pPr>
            <a:r>
              <a:rPr b="1" sz="1200">
                <a:solidFill>
                  <a:srgbClr val="1B365D"/>
                </a:solidFill>
              </a:rPr>
              <a:t>• Transport Over UDP: </a:t>
            </a:r>
            <a:r>
              <a:rPr sz="1150">
                <a:solidFill>
                  <a:srgbClr val="0F172A"/>
                </a:solidFill>
              </a:rPr>
              <a:t>QUIC runs in user-space on top of UDP (port 443), bypassing slow OS kernel TCP stack upgrade cycles across billions of devices.</a:t>
            </a:r>
          </a:p>
          <a:p>
            <a:pPr>
              <a:spcAft>
                <a:spcPts val="800"/>
              </a:spcAft>
            </a:pPr>
            <a:r>
              <a:rPr b="1" sz="1200">
                <a:solidFill>
                  <a:srgbClr val="1B365D"/>
                </a:solidFill>
              </a:rPr>
              <a:t>• Zero-RTT Connection Setup (0-RTT): </a:t>
            </a:r>
            <a:r>
              <a:rPr sz="1150">
                <a:solidFill>
                  <a:srgbClr val="0F172A"/>
                </a:solidFill>
              </a:rPr>
              <a:t>Combines transport handshake and TLS 1.3 cryptographic key negotiation into a single round-trip (or 0-RTT for resumed sessions).</a:t>
            </a:r>
          </a:p>
          <a:p>
            <a:pPr>
              <a:spcAft>
                <a:spcPts val="800"/>
              </a:spcAft>
            </a:pPr>
            <a:r>
              <a:rPr b="1" sz="1200">
                <a:solidFill>
                  <a:srgbClr val="1B365D"/>
                </a:solidFill>
              </a:rPr>
              <a:t>• Elimination of Head-of-Line Blocking: </a:t>
            </a:r>
            <a:r>
              <a:rPr sz="1150">
                <a:solidFill>
                  <a:srgbClr val="0F172A"/>
                </a:solidFill>
              </a:rPr>
              <a:t>Unlike TCP, where a single dropped packet stalls all multiplexed streams in the connection, QUIC streams are independent at Layer 4.</a:t>
            </a:r>
          </a:p>
          <a:p>
            <a:pPr>
              <a:spcAft>
                <a:spcPts val="800"/>
              </a:spcAft>
            </a:pPr>
            <a:r>
              <a:rPr b="1" sz="1200">
                <a:solidFill>
                  <a:srgbClr val="1B365D"/>
                </a:solidFill>
              </a:rPr>
              <a:t>• Connection Migration: </a:t>
            </a:r>
            <a:r>
              <a:rPr sz="1150">
                <a:solidFill>
                  <a:srgbClr val="0F172A"/>
                </a:solidFill>
              </a:rPr>
              <a:t>Uses 64-bit Connection IDs rather than 4-tuple IP/ports, allowing seamless handoff as mobile devices switch between Wi-Fi and 5G cellular.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08: MODERN PARADIGMS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Software-Defined Networking &amp; Programmable Data Planes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Software-Defined Networking (SDN)</a:t>
            </a:r>
          </a:p>
          <a:p>
            <a:pPr>
              <a:spcAft>
                <a:spcPts val="800"/>
              </a:spcAft>
            </a:pPr>
            <a:r>
              <a:rPr b="1" sz="1200">
                <a:solidFill>
                  <a:srgbClr val="1B365D"/>
                </a:solidFill>
              </a:rPr>
              <a:t>• Decoupling Planes: </a:t>
            </a:r>
            <a:r>
              <a:rPr sz="1150">
                <a:solidFill>
                  <a:srgbClr val="0F172A"/>
                </a:solidFill>
              </a:rPr>
              <a:t>Separates the distributed Control Plane (routing decision logic) from the hardware Data Plane (forwarding engines).</a:t>
            </a:r>
          </a:p>
          <a:p>
            <a:pPr>
              <a:spcAft>
                <a:spcPts val="800"/>
              </a:spcAft>
            </a:pPr>
            <a:r>
              <a:rPr b="1" sz="1200">
                <a:solidFill>
                  <a:srgbClr val="1B365D"/>
                </a:solidFill>
              </a:rPr>
              <a:t>• Centralized Controller Architecture: </a:t>
            </a:r>
            <a:r>
              <a:rPr sz="1150">
                <a:solidFill>
                  <a:srgbClr val="0F172A"/>
                </a:solidFill>
              </a:rPr>
              <a:t>Logically centralized controllers (ONOS, OpenDaylight) maintain a global network view and program flow tables via Southbound APIs (OpenFlow, P4Runtime).</a:t>
            </a:r>
          </a:p>
          <a:p>
            <a:pPr>
              <a:spcAft>
                <a:spcPts val="800"/>
              </a:spcAft>
            </a:pPr>
            <a:r>
              <a:rPr b="1" sz="1200">
                <a:solidFill>
                  <a:srgbClr val="1B365D"/>
                </a:solidFill>
              </a:rPr>
              <a:t>• Northbound APIs &amp; Automation: </a:t>
            </a:r>
            <a:r>
              <a:rPr sz="1150">
                <a:solidFill>
                  <a:srgbClr val="0F172A"/>
                </a:solidFill>
              </a:rPr>
              <a:t>RESTful / gRPC interfaces allowing cloud orchestration software (Kubernetes, OpenStack) to instantiate networks dynamically via code.</a:t>
            </a:r>
          </a:p>
          <a:p>
            <a:pPr>
              <a:spcAft>
                <a:spcPts val="800"/>
              </a:spcAft>
            </a:pPr>
            <a:r>
              <a:rPr b="1" sz="1200">
                <a:solidFill>
                  <a:srgbClr val="1B365D"/>
                </a:solidFill>
              </a:rPr>
              <a:t>• Intent-Based Networking (IBN): </a:t>
            </a:r>
            <a:r>
              <a:rPr sz="1150">
                <a:solidFill>
                  <a:srgbClr val="0F172A"/>
                </a:solidFill>
              </a:rPr>
              <a:t>Operators declare high-level operational policies; the controller automatically translates, verifies, and deploys configuration down to the infrastructure.</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Programmable Data Planes (P4 Language)</a:t>
            </a:r>
          </a:p>
          <a:p>
            <a:pPr>
              <a:spcAft>
                <a:spcPts val="800"/>
              </a:spcAft>
            </a:pPr>
            <a:r>
              <a:rPr b="1" sz="1200">
                <a:solidFill>
                  <a:srgbClr val="1B365D"/>
                </a:solidFill>
              </a:rPr>
              <a:t>• P4 Programming Paradigm: </a:t>
            </a:r>
            <a:r>
              <a:rPr sz="1150">
                <a:solidFill>
                  <a:srgbClr val="0F172A"/>
                </a:solidFill>
              </a:rPr>
              <a:t>'Programming Protocol-Independent Packet Processors' allows compiling custom packet parsing algorithms directly into network switch silicon.</a:t>
            </a:r>
          </a:p>
          <a:p>
            <a:pPr>
              <a:spcAft>
                <a:spcPts val="800"/>
              </a:spcAft>
            </a:pPr>
            <a:r>
              <a:rPr b="1" sz="1200">
                <a:solidFill>
                  <a:srgbClr val="1B365D"/>
                </a:solidFill>
              </a:rPr>
              <a:t>• Reconfigurable Match-Action Tables (RMT): </a:t>
            </a:r>
            <a:r>
              <a:rPr sz="1150">
                <a:solidFill>
                  <a:srgbClr val="0F172A"/>
                </a:solidFill>
              </a:rPr>
              <a:t>Replaces fixed-function ASICs with programmable pipelines capable of parsing arbitrary protocol headers (custom telemetry, IoT, AI tensors).</a:t>
            </a:r>
          </a:p>
          <a:p>
            <a:pPr>
              <a:spcAft>
                <a:spcPts val="800"/>
              </a:spcAft>
            </a:pPr>
            <a:r>
              <a:rPr b="1" sz="1200">
                <a:solidFill>
                  <a:srgbClr val="1B365D"/>
                </a:solidFill>
              </a:rPr>
              <a:t>• In-Band Network Telemetry (INT): </a:t>
            </a:r>
            <a:r>
              <a:rPr sz="1150">
                <a:solidFill>
                  <a:srgbClr val="0F172A"/>
                </a:solidFill>
              </a:rPr>
              <a:t>Packets collect telemetry data (ingress timestamp, queue latency, switch ID) directly in-flight through headers without CPU polling.</a:t>
            </a:r>
          </a:p>
          <a:p>
            <a:pPr>
              <a:spcAft>
                <a:spcPts val="800"/>
              </a:spcAft>
            </a:pPr>
            <a:r>
              <a:rPr b="1" sz="1200">
                <a:solidFill>
                  <a:srgbClr val="1B365D"/>
                </a:solidFill>
              </a:rPr>
              <a:t>• Hardware Acceleration: </a:t>
            </a:r>
            <a:r>
              <a:rPr sz="1150">
                <a:solidFill>
                  <a:srgbClr val="0F172A"/>
                </a:solidFill>
              </a:rPr>
              <a:t>SmartNICs and Data Processing Units (DPUs) offloading network virtualization, encryption, and storage logic from host CPUs.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09: GRADUATE METHODOLOGY</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Empirical Emulation, Measurement &amp; Research</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Network Research Environments</a:t>
            </a:r>
          </a:p>
          <a:p>
            <a:pPr>
              <a:spcAft>
                <a:spcPts val="800"/>
              </a:spcAft>
            </a:pPr>
            <a:r>
              <a:rPr b="1" sz="1200">
                <a:solidFill>
                  <a:srgbClr val="1B365D"/>
                </a:solidFill>
              </a:rPr>
              <a:t>• Cisco Packet Tracer: </a:t>
            </a:r>
            <a:r>
              <a:rPr sz="1150">
                <a:solidFill>
                  <a:srgbClr val="0F172A"/>
                </a:solidFill>
              </a:rPr>
              <a:t>High-fidelity protocol visualization, discrete event simulation, and rapid campus topology prototyping for our course lab deliverables.</a:t>
            </a:r>
          </a:p>
          <a:p>
            <a:pPr>
              <a:spcAft>
                <a:spcPts val="800"/>
              </a:spcAft>
            </a:pPr>
            <a:r>
              <a:rPr b="1" sz="1200">
                <a:solidFill>
                  <a:srgbClr val="1B365D"/>
                </a:solidFill>
              </a:rPr>
              <a:t>• Mininet &amp; SDN Emulation: </a:t>
            </a:r>
            <a:r>
              <a:rPr sz="1150">
                <a:solidFill>
                  <a:srgbClr val="0F172A"/>
                </a:solidFill>
              </a:rPr>
              <a:t>Creates realistic virtual networks using Linux network namespaces and virtual Ethernet pairs running real Linux kernel network stacks.</a:t>
            </a:r>
          </a:p>
          <a:p>
            <a:pPr>
              <a:spcAft>
                <a:spcPts val="800"/>
              </a:spcAft>
            </a:pPr>
            <a:r>
              <a:rPr b="1" sz="1200">
                <a:solidFill>
                  <a:srgbClr val="1B365D"/>
                </a:solidFill>
              </a:rPr>
              <a:t>• GNS3 / EVE-NG Network Emulators: </a:t>
            </a:r>
            <a:r>
              <a:rPr sz="1150">
                <a:solidFill>
                  <a:srgbClr val="0F172A"/>
                </a:solidFill>
              </a:rPr>
              <a:t>Executes real vendor operating system binaries (Cisco IOL, Arista vEOS, Juniper vSRX) inside virtualized QEMU/KVM hypervisors.</a:t>
            </a:r>
          </a:p>
          <a:p>
            <a:pPr>
              <a:spcAft>
                <a:spcPts val="800"/>
              </a:spcAft>
            </a:pPr>
            <a:r>
              <a:rPr b="1" sz="1200">
                <a:solidFill>
                  <a:srgbClr val="1B365D"/>
                </a:solidFill>
              </a:rPr>
              <a:t>• Discrete-Event Simulators (ns-3 / OMNeT++): </a:t>
            </a:r>
            <a:r>
              <a:rPr sz="1150">
                <a:solidFill>
                  <a:srgbClr val="0F172A"/>
                </a:solidFill>
              </a:rPr>
              <a:t>Packet-level mathematical simulation enabling precise peer-reviewed evaluation of novel transport and queuing algorithms.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Experimental Design &amp; Statistical Rigor</a:t>
            </a:r>
          </a:p>
          <a:p>
            <a:pPr>
              <a:spcAft>
                <a:spcPts val="800"/>
              </a:spcAft>
            </a:pPr>
            <a:r>
              <a:rPr b="1" sz="1200">
                <a:solidFill>
                  <a:srgbClr val="1B365D"/>
                </a:solidFill>
              </a:rPr>
              <a:t>• Hypothesis Formulation: </a:t>
            </a:r>
            <a:r>
              <a:rPr sz="1150">
                <a:solidFill>
                  <a:srgbClr val="0F172A"/>
                </a:solidFill>
              </a:rPr>
              <a:t>Defining measurable dependent variables (P99 tail latency, goodput, packet loss ratio) under variable independent loads.</a:t>
            </a:r>
          </a:p>
          <a:p>
            <a:pPr>
              <a:spcAft>
                <a:spcPts val="800"/>
              </a:spcAft>
            </a:pPr>
            <a:r>
              <a:rPr b="1" sz="1200">
                <a:solidFill>
                  <a:srgbClr val="1B365D"/>
                </a:solidFill>
              </a:rPr>
              <a:t>• Tail Latency &amp; Percentiles: </a:t>
            </a:r>
            <a:r>
              <a:rPr sz="1150">
                <a:solidFill>
                  <a:srgbClr val="0F172A"/>
                </a:solidFill>
              </a:rPr>
              <a:t>Evaluating performance at 99th and 99.9th percentiles (P99/P99.9) rather than arithmetic means, capturing outlier degradation in hyperscale systems.</a:t>
            </a:r>
          </a:p>
          <a:p>
            <a:pPr>
              <a:spcAft>
                <a:spcPts val="800"/>
              </a:spcAft>
            </a:pPr>
            <a:r>
              <a:rPr b="1" sz="1200">
                <a:solidFill>
                  <a:srgbClr val="1B365D"/>
                </a:solidFill>
              </a:rPr>
              <a:t>• Reproducibility &amp; Artifact Sharing: </a:t>
            </a:r>
            <a:r>
              <a:rPr sz="1150">
                <a:solidFill>
                  <a:srgbClr val="0F172A"/>
                </a:solidFill>
              </a:rPr>
              <a:t>Providing automated topology scripts, traffic generation profiles (iperf3, TRex), and raw PCAP trace datasets.</a:t>
            </a:r>
          </a:p>
          <a:p>
            <a:pPr>
              <a:spcAft>
                <a:spcPts val="800"/>
              </a:spcAft>
            </a:pPr>
            <a:r>
              <a:rPr b="1" sz="1200">
                <a:solidFill>
                  <a:srgbClr val="1B365D"/>
                </a:solidFill>
              </a:rPr>
              <a:t>• Academic Publication Alignment: </a:t>
            </a:r>
            <a:r>
              <a:rPr sz="1150">
                <a:solidFill>
                  <a:srgbClr val="0F172A"/>
                </a:solidFill>
              </a:rPr>
              <a:t>Structuring research papers according to IEEE/ACM networking standards (SIGCOMM, INFOCOM, CoNEXT).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MODULE 10: FUTURE HORIZONS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Emerging Frontiers: Ultra-Ethernet, AI Fabrics &amp; Quantum</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AI / ML Hyperscale Fabrics &amp; Ultra Ethernet</a:t>
            </a:r>
          </a:p>
          <a:p>
            <a:pPr>
              <a:spcAft>
                <a:spcPts val="800"/>
              </a:spcAft>
            </a:pPr>
            <a:r>
              <a:rPr b="1" sz="1200">
                <a:solidFill>
                  <a:srgbClr val="1B365D"/>
                </a:solidFill>
              </a:rPr>
              <a:t>• AI Workload Characteristics: </a:t>
            </a:r>
            <a:r>
              <a:rPr sz="1150">
                <a:solidFill>
                  <a:srgbClr val="0F172A"/>
                </a:solidFill>
              </a:rPr>
              <a:t>Distributed training of Large Language Models requires massive, synchronized All-Reduce collective communication operations between tens of thousands of GPUs.</a:t>
            </a:r>
          </a:p>
          <a:p>
            <a:pPr>
              <a:spcAft>
                <a:spcPts val="800"/>
              </a:spcAft>
            </a:pPr>
            <a:r>
              <a:rPr b="1" sz="1200">
                <a:solidFill>
                  <a:srgbClr val="1B365D"/>
                </a:solidFill>
              </a:rPr>
              <a:t>• The Problem with Standard Ethernet: </a:t>
            </a:r>
            <a:r>
              <a:rPr sz="1150">
                <a:solidFill>
                  <a:srgbClr val="0F172A"/>
                </a:solidFill>
              </a:rPr>
              <a:t>Elephant flows cause hash collisions in traditional ECMP, resulting in network congestion and GPU idle time ('bubble time').</a:t>
            </a:r>
          </a:p>
          <a:p>
            <a:pPr>
              <a:spcAft>
                <a:spcPts val="800"/>
              </a:spcAft>
            </a:pPr>
            <a:r>
              <a:rPr b="1" sz="1200">
                <a:solidFill>
                  <a:srgbClr val="1B365D"/>
                </a:solidFill>
              </a:rPr>
              <a:t>• RoCEv2 &amp; RDMA: </a:t>
            </a:r>
            <a:r>
              <a:rPr sz="1150">
                <a:solidFill>
                  <a:srgbClr val="0F172A"/>
                </a:solidFill>
              </a:rPr>
              <a:t>Remote Direct Memory Access over Converged Ethernet bypasses host OS kernel and CPU, writing directly between remote GPU memories at 400G/800G.</a:t>
            </a:r>
          </a:p>
          <a:p>
            <a:pPr>
              <a:spcAft>
                <a:spcPts val="800"/>
              </a:spcAft>
            </a:pPr>
            <a:r>
              <a:rPr b="1" sz="1200">
                <a:solidFill>
                  <a:srgbClr val="1B365D"/>
                </a:solidFill>
              </a:rPr>
              <a:t>• Ultra Ethernet Consortium (UEC): </a:t>
            </a:r>
            <a:r>
              <a:rPr sz="1150">
                <a:solidFill>
                  <a:srgbClr val="0F172A"/>
                </a:solidFill>
              </a:rPr>
              <a:t>Developing an open, optimized transport layer replacing TCP with packet spraying, selective retransmission, and in-network aggregation.</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Quantum Communications &amp; Post-Quantum Crypto</a:t>
            </a:r>
          </a:p>
          <a:p>
            <a:pPr>
              <a:spcAft>
                <a:spcPts val="800"/>
              </a:spcAft>
            </a:pPr>
            <a:r>
              <a:rPr b="1" sz="1200">
                <a:solidFill>
                  <a:srgbClr val="1B365D"/>
                </a:solidFill>
              </a:rPr>
              <a:t>• Quantum Key Distribution (QKD): </a:t>
            </a:r>
            <a:r>
              <a:rPr sz="1150">
                <a:solidFill>
                  <a:srgbClr val="0F172A"/>
                </a:solidFill>
              </a:rPr>
              <a:t>Exploits quantum entanglement and the No-Cloning Theorem to establish cryptographically unbreakable symmetric keys (e.g., BB84 protocol).</a:t>
            </a:r>
          </a:p>
          <a:p>
            <a:pPr>
              <a:spcAft>
                <a:spcPts val="800"/>
              </a:spcAft>
            </a:pPr>
            <a:r>
              <a:rPr b="1" sz="1200">
                <a:solidFill>
                  <a:srgbClr val="1B365D"/>
                </a:solidFill>
              </a:rPr>
              <a:t>• Quantum Internet Architecture: </a:t>
            </a:r>
            <a:r>
              <a:rPr sz="1150">
                <a:solidFill>
                  <a:srgbClr val="0F172A"/>
                </a:solidFill>
              </a:rPr>
              <a:t>Quantum repeaters using entanglement swapping to transmit quantum qubits across long-distance fiber networks.</a:t>
            </a:r>
          </a:p>
          <a:p>
            <a:pPr>
              <a:spcAft>
                <a:spcPts val="800"/>
              </a:spcAft>
            </a:pPr>
            <a:r>
              <a:rPr b="1" sz="1200">
                <a:solidFill>
                  <a:srgbClr val="1B365D"/>
                </a:solidFill>
              </a:rPr>
              <a:t>• NIST Post-Quantum Cryptography (PQC): </a:t>
            </a:r>
            <a:r>
              <a:rPr sz="1150">
                <a:solidFill>
                  <a:srgbClr val="0F172A"/>
                </a:solidFill>
              </a:rPr>
              <a:t>Standardized quantum-resistant algorithms: ML-KEM (Kyber) for key encapsulation and ML-DSA (Dilithium) for digital signatures.</a:t>
            </a:r>
          </a:p>
          <a:p>
            <a:pPr>
              <a:spcAft>
                <a:spcPts val="800"/>
              </a:spcAft>
            </a:pPr>
            <a:r>
              <a:rPr b="1" sz="1200">
                <a:solidFill>
                  <a:srgbClr val="1B365D"/>
                </a:solidFill>
              </a:rPr>
              <a:t>• Migration Urgency ('Harvest Now, Decrypt Later'): </a:t>
            </a:r>
            <a:r>
              <a:rPr sz="1150">
                <a:solidFill>
                  <a:srgbClr val="0F172A"/>
                </a:solidFill>
              </a:rPr>
              <a:t>Adversaries intercepting encrypted enterprise traffic today to decrypt once cryptanalytically relevant quantum computers emerge.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CSC-6361 · COURSE CAPSTONE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Graduate Capstone Synthesis &amp; Research Defense</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CSC-6361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CSC-6361 Graduate Synthesis</a:t>
            </a:r>
          </a:p>
          <a:p>
            <a:pPr>
              <a:spcAft>
                <a:spcPts val="800"/>
              </a:spcAft>
            </a:pPr>
            <a:r>
              <a:rPr b="1" sz="1200">
                <a:solidFill>
                  <a:srgbClr val="1B365D"/>
                </a:solidFill>
              </a:rPr>
              <a:t>• Theoretical Depth: </a:t>
            </a:r>
            <a:r>
              <a:rPr sz="1150">
                <a:solidFill>
                  <a:srgbClr val="0F172A"/>
                </a:solidFill>
              </a:rPr>
              <a:t>Rigorous understanding of queuing models, Dijkstra computational complexity, and transport layer congestion dynamics.</a:t>
            </a:r>
          </a:p>
          <a:p>
            <a:pPr>
              <a:spcAft>
                <a:spcPts val="800"/>
              </a:spcAft>
            </a:pPr>
            <a:r>
              <a:rPr b="1" sz="1200">
                <a:solidFill>
                  <a:srgbClr val="1B365D"/>
                </a:solidFill>
              </a:rPr>
              <a:t>• Enterprise &amp; Cloud Architecture: </a:t>
            </a:r>
            <a:r>
              <a:rPr sz="1150">
                <a:solidFill>
                  <a:srgbClr val="0F172A"/>
                </a:solidFill>
              </a:rPr>
              <a:t>Mastery of multi-area OSPF, BGP-4 inter-domain routing policies, and VXLAN/EVPN data center Clos fabrics.</a:t>
            </a:r>
          </a:p>
          <a:p>
            <a:pPr>
              <a:spcAft>
                <a:spcPts val="800"/>
              </a:spcAft>
            </a:pPr>
            <a:r>
              <a:rPr b="1" sz="1200">
                <a:solidFill>
                  <a:srgbClr val="1B365D"/>
                </a:solidFill>
              </a:rPr>
              <a:t>• Empirical Experimentation: </a:t>
            </a:r>
            <a:r>
              <a:rPr sz="1150">
                <a:solidFill>
                  <a:srgbClr val="0F172A"/>
                </a:solidFill>
              </a:rPr>
              <a:t>Hands-on topology emulation, protocol verification, and Wireshark packet dissection.</a:t>
            </a:r>
          </a:p>
          <a:p>
            <a:pPr>
              <a:spcAft>
                <a:spcPts val="800"/>
              </a:spcAft>
            </a:pPr>
            <a:r>
              <a:rPr b="1" sz="1200">
                <a:solidFill>
                  <a:srgbClr val="1B365D"/>
                </a:solidFill>
              </a:rPr>
              <a:t>• Research Readiness: </a:t>
            </a:r>
            <a:r>
              <a:rPr sz="1150">
                <a:solidFill>
                  <a:srgbClr val="0F172A"/>
                </a:solidFill>
              </a:rPr>
              <a:t>Ability to formulate hypotheses, design reproducible network experiments, and evaluate empirical performance metrics.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Master's Defense Expectations</a:t>
            </a:r>
          </a:p>
          <a:p>
            <a:pPr>
              <a:spcAft>
                <a:spcPts val="800"/>
              </a:spcAft>
            </a:pPr>
            <a:r>
              <a:rPr b="1" sz="1200">
                <a:solidFill>
                  <a:srgbClr val="1B365D"/>
                </a:solidFill>
              </a:rPr>
              <a:t>• Final Lab Practicum Submission: </a:t>
            </a:r>
            <a:r>
              <a:rPr sz="1150">
                <a:solidFill>
                  <a:srgbClr val="0F172A"/>
                </a:solidFill>
              </a:rPr>
              <a:t>Submission of fully configured enterprise campus topologies in Packet Tracer with comprehensive routing validation.</a:t>
            </a:r>
          </a:p>
          <a:p>
            <a:pPr>
              <a:spcAft>
                <a:spcPts val="800"/>
              </a:spcAft>
            </a:pPr>
            <a:r>
              <a:rPr b="1" sz="1200">
                <a:solidFill>
                  <a:srgbClr val="1B365D"/>
                </a:solidFill>
              </a:rPr>
              <a:t>• Research Paper / Project Defense: </a:t>
            </a:r>
            <a:r>
              <a:rPr sz="1150">
                <a:solidFill>
                  <a:srgbClr val="0F172A"/>
                </a:solidFill>
              </a:rPr>
              <a:t>Formal defense of your semester research project examining advanced protocol dynamics or architecture modeling.</a:t>
            </a:r>
          </a:p>
          <a:p>
            <a:pPr>
              <a:spcAft>
                <a:spcPts val="800"/>
              </a:spcAft>
            </a:pPr>
            <a:r>
              <a:rPr b="1" sz="1200">
                <a:solidFill>
                  <a:srgbClr val="1B365D"/>
                </a:solidFill>
              </a:rPr>
              <a:t>• Academic Rigor: </a:t>
            </a:r>
            <a:r>
              <a:rPr sz="1150">
                <a:solidFill>
                  <a:srgbClr val="0F172A"/>
                </a:solidFill>
              </a:rPr>
              <a:t>Clear, precise scholarly writing adhering to IEEE citation and technical documentation standards.</a:t>
            </a:r>
          </a:p>
          <a:p>
            <a:pPr>
              <a:spcAft>
                <a:spcPts val="800"/>
              </a:spcAft>
            </a:pPr>
            <a:r>
              <a:rPr b="1" sz="1200">
                <a:solidFill>
                  <a:srgbClr val="1B365D"/>
                </a:solidFill>
              </a:rPr>
              <a:t>• Final Office Hours &amp; Consultations: </a:t>
            </a:r>
            <a:r>
              <a:rPr sz="1150">
                <a:solidFill>
                  <a:srgbClr val="0F172A"/>
                </a:solidFill>
              </a:rPr>
              <a:t>Available via Canvas or scheduled Teams meetings for individual research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